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56" r:id="rId2"/>
    <p:sldId id="257" r:id="rId3"/>
    <p:sldId id="267" r:id="rId4"/>
    <p:sldId id="269" r:id="rId5"/>
    <p:sldId id="268" r:id="rId6"/>
    <p:sldId id="258" r:id="rId7"/>
    <p:sldId id="270" r:id="rId8"/>
    <p:sldId id="260" r:id="rId9"/>
    <p:sldId id="259" r:id="rId10"/>
    <p:sldId id="261" r:id="rId11"/>
    <p:sldId id="262" r:id="rId12"/>
    <p:sldId id="263" r:id="rId13"/>
    <p:sldId id="264" r:id="rId14"/>
    <p:sldId id="265" r:id="rId15"/>
    <p:sldId id="266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879"/>
    <p:restoredTop sz="94666"/>
  </p:normalViewPr>
  <p:slideViewPr>
    <p:cSldViewPr snapToGrid="0">
      <p:cViewPr varScale="1">
        <p:scale>
          <a:sx n="118" d="100"/>
          <a:sy n="118" d="100"/>
        </p:scale>
        <p:origin x="224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B172D-A989-F143-B03B-EF2F3E9570AB}" type="datetimeFigureOut">
              <a:rPr lang="en-NO" smtClean="0"/>
              <a:t>11/01/2026</a:t>
            </a:fld>
            <a:endParaRPr lang="en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3C024-7C30-6E48-A3FD-6ABFB07225B9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4080151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B172D-A989-F143-B03B-EF2F3E9570AB}" type="datetimeFigureOut">
              <a:rPr lang="en-NO" smtClean="0"/>
              <a:t>11/01/2026</a:t>
            </a:fld>
            <a:endParaRPr lang="en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3C024-7C30-6E48-A3FD-6ABFB07225B9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3221717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B172D-A989-F143-B03B-EF2F3E9570AB}" type="datetimeFigureOut">
              <a:rPr lang="en-NO" smtClean="0"/>
              <a:t>11/01/2026</a:t>
            </a:fld>
            <a:endParaRPr lang="en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3C024-7C30-6E48-A3FD-6ABFB07225B9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2400958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B172D-A989-F143-B03B-EF2F3E9570AB}" type="datetimeFigureOut">
              <a:rPr lang="en-NO" smtClean="0"/>
              <a:t>11/01/2026</a:t>
            </a:fld>
            <a:endParaRPr lang="en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3C024-7C30-6E48-A3FD-6ABFB07225B9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1868479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B172D-A989-F143-B03B-EF2F3E9570AB}" type="datetimeFigureOut">
              <a:rPr lang="en-NO" smtClean="0"/>
              <a:t>11/01/2026</a:t>
            </a:fld>
            <a:endParaRPr lang="en-N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3C024-7C30-6E48-A3FD-6ABFB07225B9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3647253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B172D-A989-F143-B03B-EF2F3E9570AB}" type="datetimeFigureOut">
              <a:rPr lang="en-NO" smtClean="0"/>
              <a:t>11/01/2026</a:t>
            </a:fld>
            <a:endParaRPr lang="en-N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3C024-7C30-6E48-A3FD-6ABFB07225B9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3080582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B172D-A989-F143-B03B-EF2F3E9570AB}" type="datetimeFigureOut">
              <a:rPr lang="en-NO" smtClean="0"/>
              <a:t>11/01/2026</a:t>
            </a:fld>
            <a:endParaRPr lang="en-N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3C024-7C30-6E48-A3FD-6ABFB07225B9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2011923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B172D-A989-F143-B03B-EF2F3E9570AB}" type="datetimeFigureOut">
              <a:rPr lang="en-NO" smtClean="0"/>
              <a:t>11/01/2026</a:t>
            </a:fld>
            <a:endParaRPr lang="en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3C024-7C30-6E48-A3FD-6ABFB07225B9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21200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B172D-A989-F143-B03B-EF2F3E9570AB}" type="datetimeFigureOut">
              <a:rPr lang="en-NO" smtClean="0"/>
              <a:t>11/01/2026</a:t>
            </a:fld>
            <a:endParaRPr lang="en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3C024-7C30-6E48-A3FD-6ABFB07225B9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3196946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B172D-A989-F143-B03B-EF2F3E9570AB}" type="datetimeFigureOut">
              <a:rPr lang="en-NO" smtClean="0"/>
              <a:t>11/01/2026</a:t>
            </a:fld>
            <a:endParaRPr lang="en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3C024-7C30-6E48-A3FD-6ABFB07225B9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2223310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B172D-A989-F143-B03B-EF2F3E9570AB}" type="datetimeFigureOut">
              <a:rPr lang="en-NO" smtClean="0"/>
              <a:t>11/01/2026</a:t>
            </a:fld>
            <a:endParaRPr lang="en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3C024-7C30-6E48-A3FD-6ABFB07225B9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2854111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B14B172D-A989-F143-B03B-EF2F3E9570AB}" type="datetimeFigureOut">
              <a:rPr lang="en-NO" smtClean="0"/>
              <a:t>11/01/2026</a:t>
            </a:fld>
            <a:endParaRPr lang="en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97D3C024-7C30-6E48-A3FD-6ABFB07225B9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22772896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A086C-0E1C-FF4B-07E7-8138137335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F63889-C8FC-5928-A411-7437A13433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3297701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D9C08-C13B-77C0-C609-E1795F38F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O" dirty="0"/>
              <a:t>The power of types</a:t>
            </a:r>
          </a:p>
        </p:txBody>
      </p:sp>
    </p:spTree>
    <p:extLst>
      <p:ext uri="{BB962C8B-B14F-4D97-AF65-F5344CB8AC3E}">
        <p14:creationId xmlns:p14="http://schemas.microsoft.com/office/powerpoint/2010/main" val="2547369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6A0DC-E32B-3FC4-EB84-E11F80B66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71D8C-C1B7-B4C0-933E-39D005F0E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893859" cy="441698"/>
          </a:xfrm>
        </p:spPr>
        <p:txBody>
          <a:bodyPr>
            <a:normAutofit fontScale="90000"/>
          </a:bodyPr>
          <a:lstStyle/>
          <a:p>
            <a:r>
              <a:rPr lang="en-NO" sz="3200" dirty="0"/>
              <a:t>The power of types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2994BC-FF6B-D670-688B-5DA2E1EFD5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35" y="2340438"/>
            <a:ext cx="11808129" cy="2177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729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817C1-941A-7CBC-06E7-A2562464B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5A9E8-B809-EBAA-3DD9-6348C3F84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893859" cy="441698"/>
          </a:xfrm>
        </p:spPr>
        <p:txBody>
          <a:bodyPr>
            <a:normAutofit fontScale="90000"/>
          </a:bodyPr>
          <a:lstStyle/>
          <a:p>
            <a:r>
              <a:rPr lang="en-NO" sz="3200" dirty="0"/>
              <a:t>The power of types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35796C-AC48-DA52-AA5C-506B4D41C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35" y="2340438"/>
            <a:ext cx="11808129" cy="2177123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F4952D6-0954-384C-D793-E46292A6A69C}"/>
              </a:ext>
            </a:extLst>
          </p:cNvPr>
          <p:cNvCxnSpPr>
            <a:cxnSpLocks/>
          </p:cNvCxnSpPr>
          <p:nvPr/>
        </p:nvCxnSpPr>
        <p:spPr>
          <a:xfrm>
            <a:off x="5444361" y="1914435"/>
            <a:ext cx="0" cy="852005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73949E0-AE2F-5B86-794E-D615E7DB36A6}"/>
              </a:ext>
            </a:extLst>
          </p:cNvPr>
          <p:cNvSpPr txBox="1"/>
          <p:nvPr/>
        </p:nvSpPr>
        <p:spPr>
          <a:xfrm>
            <a:off x="4479948" y="806824"/>
            <a:ext cx="543405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sz="2800" dirty="0">
                <a:solidFill>
                  <a:srgbClr val="FF0000"/>
                </a:solidFill>
              </a:rPr>
              <a:t>Caller must remember to validate </a:t>
            </a:r>
            <a:br>
              <a:rPr lang="en-NO" sz="2800" dirty="0">
                <a:solidFill>
                  <a:srgbClr val="FF0000"/>
                </a:solidFill>
              </a:rPr>
            </a:br>
            <a:r>
              <a:rPr lang="en-NO" sz="2800" dirty="0">
                <a:solidFill>
                  <a:srgbClr val="FF0000"/>
                </a:solidFill>
              </a:rPr>
              <a:t>(runtime error when forgotten)</a:t>
            </a:r>
          </a:p>
        </p:txBody>
      </p:sp>
    </p:spTree>
    <p:extLst>
      <p:ext uri="{BB962C8B-B14F-4D97-AF65-F5344CB8AC3E}">
        <p14:creationId xmlns:p14="http://schemas.microsoft.com/office/powerpoint/2010/main" val="1524270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080E5-A4B3-9AE3-29B1-8711555D9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32EC0-608D-844C-10D6-77899963C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893859" cy="441698"/>
          </a:xfrm>
        </p:spPr>
        <p:txBody>
          <a:bodyPr>
            <a:normAutofit fontScale="90000"/>
          </a:bodyPr>
          <a:lstStyle/>
          <a:p>
            <a:r>
              <a:rPr lang="en-NO" sz="3200" dirty="0"/>
              <a:t>The power of types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F67C26A-9E5A-C31B-FC13-B1B020F8FF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358" y="1106094"/>
            <a:ext cx="11553283" cy="5146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18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F6E75-CAD3-36AB-B02D-EFF3A622F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14318-84D3-4388-8FF6-D444552A9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893859" cy="441698"/>
          </a:xfrm>
        </p:spPr>
        <p:txBody>
          <a:bodyPr>
            <a:normAutofit fontScale="90000"/>
          </a:bodyPr>
          <a:lstStyle/>
          <a:p>
            <a:r>
              <a:rPr lang="en-NO" sz="3200" dirty="0"/>
              <a:t>The power of types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BBDC4BD-B251-3BB9-567C-EBE4F87677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358" y="1106094"/>
            <a:ext cx="11553283" cy="514678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C4D4975-D7C4-FBA1-BEFA-AED1FC4EBA36}"/>
              </a:ext>
            </a:extLst>
          </p:cNvPr>
          <p:cNvSpPr/>
          <p:nvPr/>
        </p:nvSpPr>
        <p:spPr>
          <a:xfrm>
            <a:off x="1349829" y="1839686"/>
            <a:ext cx="9699170" cy="685800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A09F4F-DC87-E16E-3835-58AF7D47F44F}"/>
              </a:ext>
            </a:extLst>
          </p:cNvPr>
          <p:cNvSpPr txBox="1"/>
          <p:nvPr/>
        </p:nvSpPr>
        <p:spPr>
          <a:xfrm>
            <a:off x="7133576" y="3538983"/>
            <a:ext cx="45496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sz="2400" dirty="0">
                <a:solidFill>
                  <a:srgbClr val="FF0000"/>
                </a:solidFill>
              </a:rPr>
              <a:t>Dependencies and tight coupling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807541A-7A7B-46B3-52F9-474B9125DE9B}"/>
              </a:ext>
            </a:extLst>
          </p:cNvPr>
          <p:cNvCxnSpPr>
            <a:cxnSpLocks/>
          </p:cNvCxnSpPr>
          <p:nvPr/>
        </p:nvCxnSpPr>
        <p:spPr>
          <a:xfrm flipH="1" flipV="1">
            <a:off x="9042967" y="2613808"/>
            <a:ext cx="155462" cy="925175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35092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87227-DBF2-CBA2-93A9-5067244D7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9A4F2-F7E4-2B3F-F0BA-F299F968C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893859" cy="441698"/>
          </a:xfrm>
        </p:spPr>
        <p:txBody>
          <a:bodyPr>
            <a:normAutofit fontScale="90000"/>
          </a:bodyPr>
          <a:lstStyle/>
          <a:p>
            <a:r>
              <a:rPr lang="en-NO" sz="3200" dirty="0"/>
              <a:t>The power of types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B5A37BD-20C0-F2BF-C0D1-F322DAE004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358" y="1106094"/>
            <a:ext cx="11553283" cy="514678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7D680B1-85C5-89C0-60E8-A9313AF9C12C}"/>
              </a:ext>
            </a:extLst>
          </p:cNvPr>
          <p:cNvSpPr/>
          <p:nvPr/>
        </p:nvSpPr>
        <p:spPr>
          <a:xfrm>
            <a:off x="1349829" y="1839686"/>
            <a:ext cx="9699170" cy="685800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3CF9ED-3A5A-46CE-1A4E-F458F5661A7A}"/>
              </a:ext>
            </a:extLst>
          </p:cNvPr>
          <p:cNvSpPr txBox="1"/>
          <p:nvPr/>
        </p:nvSpPr>
        <p:spPr>
          <a:xfrm>
            <a:off x="8573078" y="2934068"/>
            <a:ext cx="24115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sz="2400" dirty="0">
                <a:solidFill>
                  <a:srgbClr val="FF0000"/>
                </a:solidFill>
              </a:rPr>
              <a:t>Validation failure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5E4CFA6-499A-4D61-14E2-8ED91410FEA3}"/>
              </a:ext>
            </a:extLst>
          </p:cNvPr>
          <p:cNvCxnSpPr>
            <a:cxnSpLocks/>
          </p:cNvCxnSpPr>
          <p:nvPr/>
        </p:nvCxnSpPr>
        <p:spPr>
          <a:xfrm flipH="1" flipV="1">
            <a:off x="7055845" y="2679122"/>
            <a:ext cx="1435012" cy="509893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1641FAF-63DD-8822-26E2-894E81AB9C40}"/>
              </a:ext>
            </a:extLst>
          </p:cNvPr>
          <p:cNvCxnSpPr>
            <a:cxnSpLocks/>
          </p:cNvCxnSpPr>
          <p:nvPr/>
        </p:nvCxnSpPr>
        <p:spPr>
          <a:xfrm flipH="1">
            <a:off x="5399314" y="3820886"/>
            <a:ext cx="3091543" cy="214261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084B8B7-2853-0D60-F2E5-79FBCF6967AA}"/>
              </a:ext>
            </a:extLst>
          </p:cNvPr>
          <p:cNvSpPr txBox="1"/>
          <p:nvPr/>
        </p:nvSpPr>
        <p:spPr>
          <a:xfrm>
            <a:off x="8573078" y="3573482"/>
            <a:ext cx="32414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sz="2400" dirty="0">
                <a:solidFill>
                  <a:srgbClr val="FF0000"/>
                </a:solidFill>
              </a:rPr>
              <a:t>Communication failure</a:t>
            </a:r>
          </a:p>
        </p:txBody>
      </p:sp>
    </p:spTree>
    <p:extLst>
      <p:ext uri="{BB962C8B-B14F-4D97-AF65-F5344CB8AC3E}">
        <p14:creationId xmlns:p14="http://schemas.microsoft.com/office/powerpoint/2010/main" val="26521786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144A4-11A0-E884-A4C0-18DBB22EF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43DCF-C09B-3EAB-E187-F20D52FFA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893859" cy="441698"/>
          </a:xfrm>
        </p:spPr>
        <p:txBody>
          <a:bodyPr>
            <a:normAutofit fontScale="90000"/>
          </a:bodyPr>
          <a:lstStyle/>
          <a:p>
            <a:r>
              <a:rPr lang="en-NO" sz="3200" dirty="0"/>
              <a:t>The power of types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7C30D85-568B-4140-6119-A198BFC5B9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5752" y="3919480"/>
            <a:ext cx="5776641" cy="257339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2694A95-D08A-11AA-9D31-9712A8F9DC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606" y="976251"/>
            <a:ext cx="11352787" cy="2767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887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0BA49-984B-D7F3-7FFA-F5F911DC8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C6F7F9F-E235-912C-53B9-7C3C903FF3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806824"/>
            <a:ext cx="10505310" cy="588981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12072765-92D3-E18A-3257-D94F6B4DB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893859" cy="441698"/>
          </a:xfrm>
        </p:spPr>
        <p:txBody>
          <a:bodyPr>
            <a:normAutofit fontScale="90000"/>
          </a:bodyPr>
          <a:lstStyle/>
          <a:p>
            <a:r>
              <a:rPr lang="en-NO" sz="3200" dirty="0"/>
              <a:t>The power of types</a:t>
            </a:r>
          </a:p>
        </p:txBody>
      </p:sp>
    </p:spTree>
    <p:extLst>
      <p:ext uri="{BB962C8B-B14F-4D97-AF65-F5344CB8AC3E}">
        <p14:creationId xmlns:p14="http://schemas.microsoft.com/office/powerpoint/2010/main" val="41561193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418E1-0CF6-E807-968D-820800073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C0DC8D1E-4F19-5535-11B3-49C92E740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893859" cy="441698"/>
          </a:xfrm>
        </p:spPr>
        <p:txBody>
          <a:bodyPr>
            <a:normAutofit fontScale="90000"/>
          </a:bodyPr>
          <a:lstStyle/>
          <a:p>
            <a:r>
              <a:rPr lang="en-NO" sz="3200" dirty="0"/>
              <a:t>The power of types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6B8BB5-E152-8D12-C260-D5EC90199B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35" y="1437614"/>
            <a:ext cx="12055729" cy="4244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5310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DFB67-04C0-44F7-430E-200023983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AFDC48F-0B9E-95D3-CF24-2DE1D7092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893859" cy="441698"/>
          </a:xfrm>
        </p:spPr>
        <p:txBody>
          <a:bodyPr>
            <a:normAutofit fontScale="90000"/>
          </a:bodyPr>
          <a:lstStyle/>
          <a:p>
            <a:r>
              <a:rPr lang="en-NO" sz="3200" dirty="0"/>
              <a:t>The power of types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22C8E6D-6FB3-75F8-EDB0-626EE18534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74" y="1227312"/>
            <a:ext cx="11900043" cy="5091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641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42C2A-CA0F-AE50-4AA4-59804A906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E9F5072-93E3-BA2C-A377-2F1C486C5F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806824"/>
            <a:ext cx="10505310" cy="588981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379C8DBB-0CBE-D990-51C5-BE70AAB59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893859" cy="441698"/>
          </a:xfrm>
        </p:spPr>
        <p:txBody>
          <a:bodyPr>
            <a:normAutofit fontScale="90000"/>
          </a:bodyPr>
          <a:lstStyle/>
          <a:p>
            <a:r>
              <a:rPr lang="en-NO" sz="3200" dirty="0"/>
              <a:t>The power of types</a:t>
            </a:r>
          </a:p>
        </p:txBody>
      </p:sp>
    </p:spTree>
    <p:extLst>
      <p:ext uri="{BB962C8B-B14F-4D97-AF65-F5344CB8AC3E}">
        <p14:creationId xmlns:p14="http://schemas.microsoft.com/office/powerpoint/2010/main" val="3301965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00347-D9F3-3E8A-9564-06A0C41EA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4C3B07D9-3835-1B34-90A5-AB8E716AD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893859" cy="441698"/>
          </a:xfrm>
        </p:spPr>
        <p:txBody>
          <a:bodyPr>
            <a:normAutofit fontScale="90000"/>
          </a:bodyPr>
          <a:lstStyle/>
          <a:p>
            <a:r>
              <a:rPr lang="en-NO" sz="3200" dirty="0"/>
              <a:t>The power of types</a:t>
            </a:r>
          </a:p>
        </p:txBody>
      </p:sp>
      <p:pic>
        <p:nvPicPr>
          <p:cNvPr id="3" name="Graphic 2" descr="Document outline">
            <a:extLst>
              <a:ext uri="{FF2B5EF4-FFF2-40B4-BE49-F238E27FC236}">
                <a16:creationId xmlns:a16="http://schemas.microsoft.com/office/drawing/2014/main" id="{49E177AC-9FF1-E54B-372E-3F63201249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10507" y="1681843"/>
            <a:ext cx="914400" cy="914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2D64280-4F35-6587-DC9A-E1E3E09B84B9}"/>
              </a:ext>
            </a:extLst>
          </p:cNvPr>
          <p:cNvSpPr txBox="1"/>
          <p:nvPr/>
        </p:nvSpPr>
        <p:spPr>
          <a:xfrm>
            <a:off x="838200" y="2596243"/>
            <a:ext cx="2377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dirty="0"/>
              <a:t>email_validator.gleam</a:t>
            </a:r>
          </a:p>
        </p:txBody>
      </p:sp>
      <p:pic>
        <p:nvPicPr>
          <p:cNvPr id="6" name="Graphic 5" descr="Document outline">
            <a:extLst>
              <a:ext uri="{FF2B5EF4-FFF2-40B4-BE49-F238E27FC236}">
                <a16:creationId xmlns:a16="http://schemas.microsoft.com/office/drawing/2014/main" id="{21D4B56D-A0F9-A7B7-FE27-6958D9ED94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10507" y="4077091"/>
            <a:ext cx="914400" cy="914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3E731BF-F7EF-FE72-EE5A-7B61A9ABDE6F}"/>
              </a:ext>
            </a:extLst>
          </p:cNvPr>
          <p:cNvSpPr txBox="1"/>
          <p:nvPr/>
        </p:nvSpPr>
        <p:spPr>
          <a:xfrm>
            <a:off x="661741" y="4991491"/>
            <a:ext cx="2554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dirty="0"/>
              <a:t>welcome_sender.gleam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4B773A6-E22A-AA23-A83F-33B69136B824}"/>
              </a:ext>
            </a:extLst>
          </p:cNvPr>
          <p:cNvGrpSpPr/>
          <p:nvPr/>
        </p:nvGrpSpPr>
        <p:grpSpPr>
          <a:xfrm>
            <a:off x="2424906" y="1175657"/>
            <a:ext cx="9868275" cy="4643067"/>
            <a:chOff x="2424906" y="1175657"/>
            <a:chExt cx="9868275" cy="464306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7C7A7C9-F38D-E82D-CDBD-0C14A8A496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11614" y="1175657"/>
              <a:ext cx="8281567" cy="4643067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CCD7B7A-5C22-2EA2-37B4-1192967F9ABC}"/>
                </a:ext>
              </a:extLst>
            </p:cNvPr>
            <p:cNvSpPr/>
            <p:nvPr/>
          </p:nvSpPr>
          <p:spPr>
            <a:xfrm>
              <a:off x="4273655" y="1341819"/>
              <a:ext cx="7428194" cy="3024634"/>
            </a:xfrm>
            <a:prstGeom prst="rect">
              <a:avLst/>
            </a:pr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46D62FF6-2916-8A6E-D5B7-E28AD6EB35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24907" y="2351314"/>
              <a:ext cx="1848748" cy="0"/>
            </a:xfrm>
            <a:prstGeom prst="straightConnector1">
              <a:avLst/>
            </a:prstGeom>
            <a:ln w="76200"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4D9ED11-517B-A261-5609-BEF15F1F5610}"/>
                </a:ext>
              </a:extLst>
            </p:cNvPr>
            <p:cNvSpPr/>
            <p:nvPr/>
          </p:nvSpPr>
          <p:spPr>
            <a:xfrm>
              <a:off x="4273654" y="4532616"/>
              <a:ext cx="7918345" cy="1149728"/>
            </a:xfrm>
            <a:prstGeom prst="rect">
              <a:avLst/>
            </a:pr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1D97F731-70D0-B5DB-3640-5B940A8DCF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24906" y="4715573"/>
              <a:ext cx="1848748" cy="0"/>
            </a:xfrm>
            <a:prstGeom prst="straightConnector1">
              <a:avLst/>
            </a:prstGeom>
            <a:ln w="76200"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609163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56607-069C-8DA4-6E80-5BE706256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74A887F-12B8-5713-313E-6C741853F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893859" cy="441698"/>
          </a:xfrm>
        </p:spPr>
        <p:txBody>
          <a:bodyPr>
            <a:normAutofit fontScale="90000"/>
          </a:bodyPr>
          <a:lstStyle/>
          <a:p>
            <a:r>
              <a:rPr lang="en-NO" sz="3200" dirty="0"/>
              <a:t>The power of types</a:t>
            </a:r>
          </a:p>
        </p:txBody>
      </p:sp>
      <p:pic>
        <p:nvPicPr>
          <p:cNvPr id="6" name="Graphic 5" descr="Document outline">
            <a:extLst>
              <a:ext uri="{FF2B5EF4-FFF2-40B4-BE49-F238E27FC236}">
                <a16:creationId xmlns:a16="http://schemas.microsoft.com/office/drawing/2014/main" id="{641173BF-CE1C-CA06-25A0-55E7794BB9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56153" y="4077091"/>
            <a:ext cx="914400" cy="914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B4A3AD-C475-48D0-C029-C0421488BA09}"/>
              </a:ext>
            </a:extLst>
          </p:cNvPr>
          <p:cNvSpPr txBox="1"/>
          <p:nvPr/>
        </p:nvSpPr>
        <p:spPr>
          <a:xfrm>
            <a:off x="1807387" y="4991491"/>
            <a:ext cx="2554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dirty="0"/>
              <a:t>welcome_sender.gleam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A408185-67E2-E57B-AA61-EA740687B72A}"/>
              </a:ext>
            </a:extLst>
          </p:cNvPr>
          <p:cNvGrpSpPr/>
          <p:nvPr/>
        </p:nvGrpSpPr>
        <p:grpSpPr>
          <a:xfrm>
            <a:off x="13634889" y="1175657"/>
            <a:ext cx="9868275" cy="4643067"/>
            <a:chOff x="2424906" y="1175657"/>
            <a:chExt cx="9868275" cy="4643067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4B5EEE24-58C0-C6A8-7DCD-6C727BB0C9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11614" y="1175657"/>
              <a:ext cx="8281567" cy="4643067"/>
            </a:xfrm>
            <a:prstGeom prst="rect">
              <a:avLst/>
            </a:prstGeom>
          </p:spPr>
        </p:pic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08F30F2-94E6-0999-BAE5-37F281C25BAB}"/>
                </a:ext>
              </a:extLst>
            </p:cNvPr>
            <p:cNvSpPr/>
            <p:nvPr/>
          </p:nvSpPr>
          <p:spPr>
            <a:xfrm>
              <a:off x="4273655" y="1341819"/>
              <a:ext cx="7428194" cy="3024634"/>
            </a:xfrm>
            <a:prstGeom prst="rect">
              <a:avLst/>
            </a:pr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D7E00B6D-7158-9E3A-743E-99ADE7363F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24907" y="2351314"/>
              <a:ext cx="1848748" cy="0"/>
            </a:xfrm>
            <a:prstGeom prst="straightConnector1">
              <a:avLst/>
            </a:prstGeom>
            <a:ln w="76200"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DA7BB50-DF21-BC52-3EE1-92F553BFD7CC}"/>
                </a:ext>
              </a:extLst>
            </p:cNvPr>
            <p:cNvSpPr/>
            <p:nvPr/>
          </p:nvSpPr>
          <p:spPr>
            <a:xfrm>
              <a:off x="4273654" y="4532616"/>
              <a:ext cx="7918345" cy="1149728"/>
            </a:xfrm>
            <a:prstGeom prst="rect">
              <a:avLst/>
            </a:pr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O"/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C17F2EF7-5EB3-8602-C415-4A172C6FA1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24906" y="4715573"/>
              <a:ext cx="1848748" cy="0"/>
            </a:xfrm>
            <a:prstGeom prst="straightConnector1">
              <a:avLst/>
            </a:prstGeom>
            <a:ln w="76200"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CB14335-1396-E1AE-A896-669A1CED99FE}"/>
              </a:ext>
            </a:extLst>
          </p:cNvPr>
          <p:cNvGrpSpPr/>
          <p:nvPr/>
        </p:nvGrpSpPr>
        <p:grpSpPr>
          <a:xfrm>
            <a:off x="3449782" y="1681843"/>
            <a:ext cx="7015285" cy="3677305"/>
            <a:chOff x="3449782" y="1681843"/>
            <a:chExt cx="7015285" cy="3677305"/>
          </a:xfrm>
        </p:grpSpPr>
        <p:pic>
          <p:nvPicPr>
            <p:cNvPr id="3" name="Graphic 2" descr="Document outline">
              <a:extLst>
                <a:ext uri="{FF2B5EF4-FFF2-40B4-BE49-F238E27FC236}">
                  <a16:creationId xmlns:a16="http://schemas.microsoft.com/office/drawing/2014/main" id="{5A3686A8-B0B6-9BBD-E8FC-B4C1BF86B3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413172" y="1681843"/>
              <a:ext cx="914400" cy="91440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F3482CE-A41C-5068-34CB-713029A7DAF8}"/>
                </a:ext>
              </a:extLst>
            </p:cNvPr>
            <p:cNvSpPr txBox="1"/>
            <p:nvPr/>
          </p:nvSpPr>
          <p:spPr>
            <a:xfrm>
              <a:off x="4740865" y="2596243"/>
              <a:ext cx="23775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O" dirty="0"/>
                <a:t>email_validator.gleam</a:t>
              </a:r>
            </a:p>
          </p:txBody>
        </p:sp>
        <p:pic>
          <p:nvPicPr>
            <p:cNvPr id="2" name="Graphic 1" descr="Document outline">
              <a:extLst>
                <a:ext uri="{FF2B5EF4-FFF2-40B4-BE49-F238E27FC236}">
                  <a16:creationId xmlns:a16="http://schemas.microsoft.com/office/drawing/2014/main" id="{B20B1BAF-89A5-37CD-DB5F-002E063874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413172" y="4077091"/>
              <a:ext cx="914400" cy="9144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FE3D108-07D3-7EA6-C339-B5F341D70974}"/>
                </a:ext>
              </a:extLst>
            </p:cNvPr>
            <p:cNvSpPr txBox="1"/>
            <p:nvPr/>
          </p:nvSpPr>
          <p:spPr>
            <a:xfrm>
              <a:off x="4671110" y="4989816"/>
              <a:ext cx="26961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 err="1"/>
                <a:t>newsletter_sender</a:t>
              </a:r>
              <a:r>
                <a:rPr lang="en-NO" dirty="0"/>
                <a:t>.gleam</a:t>
              </a:r>
            </a:p>
          </p:txBody>
        </p:sp>
        <p:pic>
          <p:nvPicPr>
            <p:cNvPr id="12" name="Graphic 11" descr="Document outline">
              <a:extLst>
                <a:ext uri="{FF2B5EF4-FFF2-40B4-BE49-F238E27FC236}">
                  <a16:creationId xmlns:a16="http://schemas.microsoft.com/office/drawing/2014/main" id="{3B2FE7FB-8F1B-986B-DE40-247DB87F7F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547691" y="4077091"/>
              <a:ext cx="914400" cy="91440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3F97D35-2965-1E68-ECE7-B83459CCDEFE}"/>
                </a:ext>
              </a:extLst>
            </p:cNvPr>
            <p:cNvSpPr txBox="1"/>
            <p:nvPr/>
          </p:nvSpPr>
          <p:spPr>
            <a:xfrm>
              <a:off x="7549717" y="4989816"/>
              <a:ext cx="29153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 err="1"/>
                <a:t>dark_pattern_sender</a:t>
              </a:r>
              <a:r>
                <a:rPr lang="en-NO" dirty="0"/>
                <a:t>.gleam</a:t>
              </a: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CAD37EE9-8721-B5FF-CB0C-B6FD5EE968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49782" y="2965575"/>
              <a:ext cx="1393860" cy="1109841"/>
            </a:xfrm>
            <a:prstGeom prst="straightConnector1">
              <a:avLst/>
            </a:prstGeom>
            <a:ln w="76200"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0191F64C-44FE-8EC3-94C8-3F3F51C25D25}"/>
                </a:ext>
              </a:extLst>
            </p:cNvPr>
            <p:cNvCxnSpPr>
              <a:cxnSpLocks/>
              <a:endCxn id="4" idx="2"/>
            </p:cNvCxnSpPr>
            <p:nvPr/>
          </p:nvCxnSpPr>
          <p:spPr>
            <a:xfrm flipV="1">
              <a:off x="5846618" y="2965575"/>
              <a:ext cx="83034" cy="1109841"/>
            </a:xfrm>
            <a:prstGeom prst="straightConnector1">
              <a:avLst/>
            </a:prstGeom>
            <a:ln w="76200"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7C893760-5BB4-987D-8BC7-038239023F8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46129" y="2831065"/>
              <a:ext cx="1595349" cy="1244351"/>
            </a:xfrm>
            <a:prstGeom prst="straightConnector1">
              <a:avLst/>
            </a:prstGeom>
            <a:ln w="76200"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77318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42D6A-9B39-C716-DF6C-4E119580B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C937040D-C77B-6837-56A0-41798A07B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893859" cy="441698"/>
          </a:xfrm>
        </p:spPr>
        <p:txBody>
          <a:bodyPr>
            <a:normAutofit fontScale="90000"/>
          </a:bodyPr>
          <a:lstStyle/>
          <a:p>
            <a:r>
              <a:rPr lang="en-NO" sz="3200" dirty="0"/>
              <a:t>The power of types</a:t>
            </a:r>
          </a:p>
        </p:txBody>
      </p:sp>
      <p:pic>
        <p:nvPicPr>
          <p:cNvPr id="6" name="Graphic 5" descr="Document outline">
            <a:extLst>
              <a:ext uri="{FF2B5EF4-FFF2-40B4-BE49-F238E27FC236}">
                <a16:creationId xmlns:a16="http://schemas.microsoft.com/office/drawing/2014/main" id="{4FF46DB4-F9D9-B26C-D5B2-EC13A71C1C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34721" y="2596243"/>
            <a:ext cx="914400" cy="914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C5A69D6-4304-47AB-5475-8FFAE5D173C8}"/>
              </a:ext>
            </a:extLst>
          </p:cNvPr>
          <p:cNvSpPr txBox="1"/>
          <p:nvPr/>
        </p:nvSpPr>
        <p:spPr>
          <a:xfrm>
            <a:off x="6285955" y="3510643"/>
            <a:ext cx="2554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dirty="0"/>
              <a:t>welcome_sender.gleam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FC0EE5-A2BA-BA39-E438-64020E96B25C}"/>
              </a:ext>
            </a:extLst>
          </p:cNvPr>
          <p:cNvSpPr txBox="1"/>
          <p:nvPr/>
        </p:nvSpPr>
        <p:spPr>
          <a:xfrm>
            <a:off x="3138146" y="2011468"/>
            <a:ext cx="1657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sz="3200" dirty="0"/>
              <a:t>Web API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EF709E-698A-6092-3AFA-27D706EFB5E3}"/>
              </a:ext>
            </a:extLst>
          </p:cNvPr>
          <p:cNvSpPr txBox="1"/>
          <p:nvPr/>
        </p:nvSpPr>
        <p:spPr>
          <a:xfrm>
            <a:off x="2938668" y="3111667"/>
            <a:ext cx="20562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sz="3200" dirty="0"/>
              <a:t>Batch jobs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B233CF-1413-3C63-C68F-BD8F6E1B5585}"/>
              </a:ext>
            </a:extLst>
          </p:cNvPr>
          <p:cNvSpPr txBox="1"/>
          <p:nvPr/>
        </p:nvSpPr>
        <p:spPr>
          <a:xfrm>
            <a:off x="3260871" y="4209058"/>
            <a:ext cx="14117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sz="3200" dirty="0"/>
              <a:t>Other?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3661681-D184-9623-0030-7B16FEFBB653}"/>
              </a:ext>
            </a:extLst>
          </p:cNvPr>
          <p:cNvCxnSpPr>
            <a:cxnSpLocks/>
          </p:cNvCxnSpPr>
          <p:nvPr/>
        </p:nvCxnSpPr>
        <p:spPr>
          <a:xfrm>
            <a:off x="4885365" y="2289641"/>
            <a:ext cx="1856811" cy="822026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A472471-2CE3-627D-4EED-8AA256C36A25}"/>
              </a:ext>
            </a:extLst>
          </p:cNvPr>
          <p:cNvCxnSpPr>
            <a:cxnSpLocks/>
          </p:cNvCxnSpPr>
          <p:nvPr/>
        </p:nvCxnSpPr>
        <p:spPr>
          <a:xfrm>
            <a:off x="4940119" y="3417379"/>
            <a:ext cx="1277908" cy="11621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C930354-C325-1C78-6341-45113AC19DDB}"/>
              </a:ext>
            </a:extLst>
          </p:cNvPr>
          <p:cNvCxnSpPr>
            <a:cxnSpLocks/>
          </p:cNvCxnSpPr>
          <p:nvPr/>
        </p:nvCxnSpPr>
        <p:spPr>
          <a:xfrm flipV="1">
            <a:off x="4672668" y="3879975"/>
            <a:ext cx="1613287" cy="626872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7AC7B243-20EF-2840-74DC-0E995515951C}"/>
              </a:ext>
            </a:extLst>
          </p:cNvPr>
          <p:cNvSpPr txBox="1"/>
          <p:nvPr/>
        </p:nvSpPr>
        <p:spPr>
          <a:xfrm>
            <a:off x="3910850" y="5416510"/>
            <a:ext cx="43702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O" sz="3600" dirty="0"/>
              <a:t>All forced to validate!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AE85630-9519-D048-CFF6-387BB494AF84}"/>
              </a:ext>
            </a:extLst>
          </p:cNvPr>
          <p:cNvGrpSpPr/>
          <p:nvPr/>
        </p:nvGrpSpPr>
        <p:grpSpPr>
          <a:xfrm>
            <a:off x="12951400" y="1681843"/>
            <a:ext cx="7015285" cy="3677305"/>
            <a:chOff x="3449782" y="1681843"/>
            <a:chExt cx="7015285" cy="3677305"/>
          </a:xfrm>
        </p:grpSpPr>
        <p:pic>
          <p:nvPicPr>
            <p:cNvPr id="3" name="Graphic 2" descr="Document outline">
              <a:extLst>
                <a:ext uri="{FF2B5EF4-FFF2-40B4-BE49-F238E27FC236}">
                  <a16:creationId xmlns:a16="http://schemas.microsoft.com/office/drawing/2014/main" id="{7CFE7A5E-79AA-8ED0-7989-77F451DA1E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413172" y="1681843"/>
              <a:ext cx="914400" cy="91440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447061A-2EAF-5519-A19C-5A56F37566F0}"/>
                </a:ext>
              </a:extLst>
            </p:cNvPr>
            <p:cNvSpPr txBox="1"/>
            <p:nvPr/>
          </p:nvSpPr>
          <p:spPr>
            <a:xfrm>
              <a:off x="4740865" y="2596243"/>
              <a:ext cx="23775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O" dirty="0"/>
                <a:t>email_validator.gleam</a:t>
              </a:r>
            </a:p>
          </p:txBody>
        </p:sp>
        <p:pic>
          <p:nvPicPr>
            <p:cNvPr id="8" name="Graphic 7" descr="Document outline">
              <a:extLst>
                <a:ext uri="{FF2B5EF4-FFF2-40B4-BE49-F238E27FC236}">
                  <a16:creationId xmlns:a16="http://schemas.microsoft.com/office/drawing/2014/main" id="{734776D3-A2F6-DD7B-C6C6-A5C4EAEEA0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413172" y="4077091"/>
              <a:ext cx="914400" cy="9144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BACE13D-7DEA-8CA5-62EE-1D0842595504}"/>
                </a:ext>
              </a:extLst>
            </p:cNvPr>
            <p:cNvSpPr txBox="1"/>
            <p:nvPr/>
          </p:nvSpPr>
          <p:spPr>
            <a:xfrm>
              <a:off x="4671110" y="4989816"/>
              <a:ext cx="26961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 err="1"/>
                <a:t>newsletter_sender</a:t>
              </a:r>
              <a:r>
                <a:rPr lang="en-NO" dirty="0"/>
                <a:t>.gleam</a:t>
              </a:r>
            </a:p>
          </p:txBody>
        </p:sp>
        <p:pic>
          <p:nvPicPr>
            <p:cNvPr id="12" name="Graphic 11" descr="Document outline">
              <a:extLst>
                <a:ext uri="{FF2B5EF4-FFF2-40B4-BE49-F238E27FC236}">
                  <a16:creationId xmlns:a16="http://schemas.microsoft.com/office/drawing/2014/main" id="{65D43784-2B15-FD17-156D-DD6DC598DA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547691" y="4077091"/>
              <a:ext cx="914400" cy="91440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C5F00F2-3FB5-E8B0-F2CA-70EC7025E221}"/>
                </a:ext>
              </a:extLst>
            </p:cNvPr>
            <p:cNvSpPr txBox="1"/>
            <p:nvPr/>
          </p:nvSpPr>
          <p:spPr>
            <a:xfrm>
              <a:off x="7549717" y="4989816"/>
              <a:ext cx="29153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 err="1"/>
                <a:t>dark_pattern_sender</a:t>
              </a:r>
              <a:r>
                <a:rPr lang="en-NO" dirty="0"/>
                <a:t>.gleam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C7657302-16E3-E079-BD1A-9C2F3AC6AA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49782" y="2965575"/>
              <a:ext cx="1393860" cy="1109841"/>
            </a:xfrm>
            <a:prstGeom prst="straightConnector1">
              <a:avLst/>
            </a:prstGeom>
            <a:ln w="76200"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99C4200D-B032-887E-8282-3B5AFBE21C13}"/>
                </a:ext>
              </a:extLst>
            </p:cNvPr>
            <p:cNvCxnSpPr>
              <a:cxnSpLocks/>
              <a:endCxn id="4" idx="2"/>
            </p:cNvCxnSpPr>
            <p:nvPr/>
          </p:nvCxnSpPr>
          <p:spPr>
            <a:xfrm flipV="1">
              <a:off x="5846618" y="2965575"/>
              <a:ext cx="83034" cy="1109841"/>
            </a:xfrm>
            <a:prstGeom prst="straightConnector1">
              <a:avLst/>
            </a:prstGeom>
            <a:ln w="76200"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FC69545D-B5EC-7785-F8BA-B4898B73B2F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46129" y="2831065"/>
              <a:ext cx="1595349" cy="1244351"/>
            </a:xfrm>
            <a:prstGeom prst="straightConnector1">
              <a:avLst/>
            </a:prstGeom>
            <a:ln w="76200"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372450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521</TotalTime>
  <Words>141</Words>
  <Application>Microsoft Macintosh PowerPoint</Application>
  <PresentationFormat>Widescreen</PresentationFormat>
  <Paragraphs>32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PowerPoint Presentation</vt:lpstr>
      <vt:lpstr>The power of types</vt:lpstr>
      <vt:lpstr>The power of types</vt:lpstr>
      <vt:lpstr>The power of types</vt:lpstr>
      <vt:lpstr>The power of types</vt:lpstr>
      <vt:lpstr>The power of types</vt:lpstr>
      <vt:lpstr>The power of types</vt:lpstr>
      <vt:lpstr>The power of types</vt:lpstr>
      <vt:lpstr>The power of types</vt:lpstr>
      <vt:lpstr>The power of types</vt:lpstr>
      <vt:lpstr>The power of types</vt:lpstr>
      <vt:lpstr>The power of types</vt:lpstr>
      <vt:lpstr>The power of types</vt:lpstr>
      <vt:lpstr>The power of types</vt:lpstr>
      <vt:lpstr>The power of types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Mikael Lindbakk</dc:creator>
  <cp:lastModifiedBy>John Mikael Lindbakk</cp:lastModifiedBy>
  <cp:revision>20</cp:revision>
  <dcterms:created xsi:type="dcterms:W3CDTF">2026-01-11T10:06:50Z</dcterms:created>
  <dcterms:modified xsi:type="dcterms:W3CDTF">2026-01-11T20:21:22Z</dcterms:modified>
</cp:coreProperties>
</file>