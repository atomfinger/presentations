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  <p:sldId id="282" r:id="rId13"/>
    <p:sldId id="283" r:id="rId14"/>
    <p:sldId id="281" r:id="rId15"/>
    <p:sldId id="267" r:id="rId16"/>
    <p:sldId id="271" r:id="rId17"/>
    <p:sldId id="272" r:id="rId18"/>
    <p:sldId id="273" r:id="rId19"/>
    <p:sldId id="274" r:id="rId20"/>
    <p:sldId id="275" r:id="rId21"/>
    <p:sldId id="268" r:id="rId22"/>
    <p:sldId id="277" r:id="rId23"/>
    <p:sldId id="276" r:id="rId24"/>
    <p:sldId id="269" r:id="rId25"/>
    <p:sldId id="284" r:id="rId26"/>
    <p:sldId id="270" r:id="rId27"/>
    <p:sldId id="285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58"/>
  </p:normalViewPr>
  <p:slideViewPr>
    <p:cSldViewPr snapToGrid="0">
      <p:cViewPr varScale="1">
        <p:scale>
          <a:sx n="120" d="100"/>
          <a:sy n="120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57C0B9-7441-4847-BE48-6E6F2D3776C9}" type="datetimeFigureOut">
              <a:rPr lang="en-NO" smtClean="0"/>
              <a:t>10/01/2026</a:t>
            </a:fld>
            <a:endParaRPr lang="en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36ACCA-E37C-C244-B808-31E7F1D2A331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879907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36ACCA-E37C-C244-B808-31E7F1D2A331}" type="slidenum">
              <a:rPr lang="en-NO" smtClean="0"/>
              <a:t>3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6787562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25CBE-0224-5F40-968B-2A0FF45E6AB2}" type="datetimeFigureOut">
              <a:rPr lang="en-NO" smtClean="0"/>
              <a:t>10/01/2026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15F8F-3DD5-4E42-9A84-00292E8C0B6A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6923241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25CBE-0224-5F40-968B-2A0FF45E6AB2}" type="datetimeFigureOut">
              <a:rPr lang="en-NO" smtClean="0"/>
              <a:t>10/01/2026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15F8F-3DD5-4E42-9A84-00292E8C0B6A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296087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25CBE-0224-5F40-968B-2A0FF45E6AB2}" type="datetimeFigureOut">
              <a:rPr lang="en-NO" smtClean="0"/>
              <a:t>10/01/2026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15F8F-3DD5-4E42-9A84-00292E8C0B6A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2488311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25CBE-0224-5F40-968B-2A0FF45E6AB2}" type="datetimeFigureOut">
              <a:rPr lang="en-NO" smtClean="0"/>
              <a:t>10/01/2026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15F8F-3DD5-4E42-9A84-00292E8C0B6A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744734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25CBE-0224-5F40-968B-2A0FF45E6AB2}" type="datetimeFigureOut">
              <a:rPr lang="en-NO" smtClean="0"/>
              <a:t>10/01/2026</a:t>
            </a:fld>
            <a:endParaRPr lang="en-N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15F8F-3DD5-4E42-9A84-00292E8C0B6A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482603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25CBE-0224-5F40-968B-2A0FF45E6AB2}" type="datetimeFigureOut">
              <a:rPr lang="en-NO" smtClean="0"/>
              <a:t>10/01/2026</a:t>
            </a:fld>
            <a:endParaRPr lang="en-N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15F8F-3DD5-4E42-9A84-00292E8C0B6A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308691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25CBE-0224-5F40-968B-2A0FF45E6AB2}" type="datetimeFigureOut">
              <a:rPr lang="en-NO" smtClean="0"/>
              <a:t>10/01/2026</a:t>
            </a:fld>
            <a:endParaRPr lang="en-N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15F8F-3DD5-4E42-9A84-00292E8C0B6A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047618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25CBE-0224-5F40-968B-2A0FF45E6AB2}" type="datetimeFigureOut">
              <a:rPr lang="en-NO" smtClean="0"/>
              <a:t>10/01/2026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15F8F-3DD5-4E42-9A84-00292E8C0B6A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9255701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25CBE-0224-5F40-968B-2A0FF45E6AB2}" type="datetimeFigureOut">
              <a:rPr lang="en-NO" smtClean="0"/>
              <a:t>10/01/2026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15F8F-3DD5-4E42-9A84-00292E8C0B6A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59031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25CBE-0224-5F40-968B-2A0FF45E6AB2}" type="datetimeFigureOut">
              <a:rPr lang="en-NO" smtClean="0"/>
              <a:t>10/01/2026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15F8F-3DD5-4E42-9A84-00292E8C0B6A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846193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25CBE-0224-5F40-968B-2A0FF45E6AB2}" type="datetimeFigureOut">
              <a:rPr lang="en-NO" smtClean="0"/>
              <a:t>10/01/2026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815F8F-3DD5-4E42-9A84-00292E8C0B6A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972020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225CBE-0224-5F40-968B-2A0FF45E6AB2}" type="datetimeFigureOut">
              <a:rPr lang="en-NO" smtClean="0"/>
              <a:t>10/01/2026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815F8F-3DD5-4E42-9A84-00292E8C0B6A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9128712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image" Target="../media/image1.jpeg"/><Relationship Id="rId21" Type="http://schemas.openxmlformats.org/officeDocument/2006/relationships/image" Target="../media/image19.png"/><Relationship Id="rId34" Type="http://schemas.openxmlformats.org/officeDocument/2006/relationships/image" Target="../media/image3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33" Type="http://schemas.openxmlformats.org/officeDocument/2006/relationships/image" Target="../media/image3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svg"/><Relationship Id="rId8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51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0" name="Rectangle 1039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6E18ADD1-E5F5-679E-C68C-285FC9EB85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92" r="12439"/>
          <a:stretch>
            <a:fillRect/>
          </a:stretch>
        </p:blipFill>
        <p:spPr bwMode="auto">
          <a:xfrm>
            <a:off x="1" y="1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2" name="Rectangle 1041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1AAF0-B0A3-18A1-7496-C95627374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1610" y="2434201"/>
            <a:ext cx="3822189" cy="3742762"/>
          </a:xfrm>
        </p:spPr>
        <p:txBody>
          <a:bodyPr>
            <a:normAutofit/>
          </a:bodyPr>
          <a:lstStyle/>
          <a:p>
            <a:r>
              <a:rPr lang="en-NO" sz="2000" dirty="0"/>
              <a:t>Consultant (Senior developer/tech lead/architect)</a:t>
            </a:r>
          </a:p>
          <a:p>
            <a:r>
              <a:rPr lang="en-NO" sz="2000" dirty="0"/>
              <a:t>Speaker</a:t>
            </a:r>
          </a:p>
          <a:p>
            <a:r>
              <a:rPr lang="en-NO" sz="2000" dirty="0"/>
              <a:t>OSS contributor</a:t>
            </a:r>
          </a:p>
          <a:p>
            <a:r>
              <a:rPr lang="en-NO" sz="2000" dirty="0"/>
              <a:t>12+ YoE</a:t>
            </a:r>
          </a:p>
          <a:p>
            <a:r>
              <a:rPr lang="en-NO" sz="2000" dirty="0"/>
              <a:t>Graduated from Aberyswyth University</a:t>
            </a:r>
          </a:p>
        </p:txBody>
      </p:sp>
    </p:spTree>
    <p:extLst>
      <p:ext uri="{BB962C8B-B14F-4D97-AF65-F5344CB8AC3E}">
        <p14:creationId xmlns:p14="http://schemas.microsoft.com/office/powerpoint/2010/main" val="1966725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54ACDC-9F8D-DB65-2D26-60D50FB18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0" name="Rectangle 1039">
            <a:extLst>
              <a:ext uri="{FF2B5EF4-FFF2-40B4-BE49-F238E27FC236}">
                <a16:creationId xmlns:a16="http://schemas.microsoft.com/office/drawing/2014/main" id="{F6517DCA-871E-8C3C-D2D2-20B9441B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1DDC0F5-2E2F-2321-F875-EC64C44B5A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92" r="12439"/>
          <a:stretch>
            <a:fillRect/>
          </a:stretch>
        </p:blipFill>
        <p:spPr bwMode="auto">
          <a:xfrm>
            <a:off x="0" y="4654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2" name="Rectangle 1041">
            <a:extLst>
              <a:ext uri="{FF2B5EF4-FFF2-40B4-BE49-F238E27FC236}">
                <a16:creationId xmlns:a16="http://schemas.microsoft.com/office/drawing/2014/main" id="{6369B96D-93DD-5E3F-7972-C7B62C8600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759551-4F74-47D4-D1F9-B2EB59B9D6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3472" y="1275603"/>
            <a:ext cx="684668" cy="768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895C00-06ED-BFAC-33BB-CE1016DC1F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54724" y="5932725"/>
            <a:ext cx="581165" cy="63928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B02E8F-96F9-8930-E628-DB80063648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86963" y="2354730"/>
            <a:ext cx="684667" cy="7683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51FDA2A-907F-845D-1446-160420F73B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295" y="1172340"/>
            <a:ext cx="684668" cy="68466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6C83E11-07F1-8F81-F974-20D9F4252E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62806" y="3648404"/>
            <a:ext cx="892825" cy="85314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7484862-80AD-4030-BA23-AA4C703AAB6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17627" y="5254598"/>
            <a:ext cx="678985" cy="67898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C4C9768-333B-50E8-299E-00877FDDE72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025647" y="5327941"/>
            <a:ext cx="1017354" cy="53128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D863CEE-D30D-6E04-3856-E2D89F6AB40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30875" y="2814288"/>
            <a:ext cx="641993" cy="64199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36468D6-C3EC-A6A0-90C6-868FC1A9030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56191" y="4502287"/>
            <a:ext cx="854125" cy="82565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5FCB819-9B1B-6C32-1D62-4E1BFAFE84B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483135" y="4572781"/>
            <a:ext cx="684667" cy="68466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DB9CEF37-E6E2-97A6-5F02-7FE9FB2ED34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345613" y="4126846"/>
            <a:ext cx="684667" cy="68466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F9CE865-7E95-66A9-E1DD-6717FCA7267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376730" y="355007"/>
            <a:ext cx="942933" cy="50289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238E032-2012-D653-302A-379139775E7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915853" y="2995619"/>
            <a:ext cx="684667" cy="68466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7B2EE69-7818-4A43-73D7-58A85B5F524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765517" y="565166"/>
            <a:ext cx="684667" cy="684667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B8007B13-719A-8098-DD58-11B8248EDB7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102974" y="3146611"/>
            <a:ext cx="684667" cy="684667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0C54ECC2-E0CB-67D1-7592-749E2BB4F58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458096" y="1785058"/>
            <a:ext cx="993272" cy="993272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41DACB0-B01F-02CD-CC3B-714DF54D54F2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103326" y="1016187"/>
            <a:ext cx="655594" cy="743007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FFB5B4E5-0C08-AA8C-0CE7-B4484CB2516D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64687" y="6182224"/>
            <a:ext cx="569166" cy="569166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54A8A02-6A67-4677-1243-A691A4B3A974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811732" y="6290538"/>
            <a:ext cx="1143000" cy="63500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D65AB0A-048B-B08C-ACAD-E7011BCA3D33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309986" y="5818325"/>
            <a:ext cx="684667" cy="684667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7647182D-368C-E65D-BB50-1DC45C6DCC1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926133" y="79851"/>
            <a:ext cx="1143000" cy="5969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C60185F1-08A9-B454-FF19-D83B7C8052DD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633641" y="-429473"/>
            <a:ext cx="892825" cy="892825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F5BAE33-1A1E-6B81-DF0F-686C347D63B3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1542288" y="2084540"/>
            <a:ext cx="736882" cy="54038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85923A35-39A0-60FE-3739-23FDC2FFB821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654799" y="-340428"/>
            <a:ext cx="1143000" cy="76200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BC1920DB-5E95-7F98-C9F6-25B765B0FE19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559851" y="5191476"/>
            <a:ext cx="1143000" cy="64770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7A8D9735-FD8A-E4C1-6048-09D094E5B285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814787" y="621879"/>
            <a:ext cx="641994" cy="72046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8A4F66EE-47AC-252B-DCB7-CCDFF97CDB6C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1565774" y="3781465"/>
            <a:ext cx="853889" cy="853889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F4A3CE9D-6440-FBA9-F191-4A5A4A5D69BE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1714215" y="6348353"/>
            <a:ext cx="749111" cy="749111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2AB582D8-5196-7765-B635-DC7F5CC0C1EC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895960" y="2738904"/>
            <a:ext cx="1143000" cy="381000"/>
          </a:xfrm>
          <a:prstGeom prst="rect">
            <a:avLst/>
          </a:prstGeom>
        </p:spPr>
      </p:pic>
      <p:pic>
        <p:nvPicPr>
          <p:cNvPr id="1024" name="Picture 1023">
            <a:extLst>
              <a:ext uri="{FF2B5EF4-FFF2-40B4-BE49-F238E27FC236}">
                <a16:creationId xmlns:a16="http://schemas.microsoft.com/office/drawing/2014/main" id="{07D5454B-34D5-D12D-C252-0135B5AF6E49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1651617" y="3291903"/>
            <a:ext cx="874309" cy="485727"/>
          </a:xfrm>
          <a:prstGeom prst="rect">
            <a:avLst/>
          </a:prstGeom>
        </p:spPr>
      </p:pic>
      <p:pic>
        <p:nvPicPr>
          <p:cNvPr id="1026" name="Graphic 1025">
            <a:extLst>
              <a:ext uri="{FF2B5EF4-FFF2-40B4-BE49-F238E27FC236}">
                <a16:creationId xmlns:a16="http://schemas.microsoft.com/office/drawing/2014/main" id="{146E4644-4717-BA63-29B9-E6BC0EACCD1C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0992399" y="-262558"/>
            <a:ext cx="342146" cy="417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8587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19026-F181-DBBD-79E6-0174FBB46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O" dirty="0"/>
              <a:t>Advice #1: </a:t>
            </a:r>
            <a:r>
              <a:rPr lang="en-GB" dirty="0"/>
              <a:t>Don't use AI*</a:t>
            </a:r>
            <a:endParaRPr lang="en-NO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FF13B-7B6C-9559-F4CC-9E2C3D08BF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2511620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8FB29-D852-6812-C1F7-9B67F4942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11A2D-A62C-83C8-7E1E-B206699C8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O" dirty="0"/>
              <a:t>Advice #1: </a:t>
            </a:r>
            <a:r>
              <a:rPr lang="en-GB" dirty="0"/>
              <a:t>Don't use AI*</a:t>
            </a:r>
            <a:endParaRPr lang="en-NO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979AAA-F90C-135A-0915-5EDC7290F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255" y="2305482"/>
            <a:ext cx="5064745" cy="14642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EAFFB69-2C68-BCBB-0513-D94CB2F2EA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2847" y="1690688"/>
            <a:ext cx="4710953" cy="12295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893451-63DD-0134-547F-2AA1178DAE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6628" y="4494051"/>
            <a:ext cx="4334435" cy="159599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77D8669-6541-7C2D-38D6-9E6697FD8F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4232430"/>
            <a:ext cx="6224765" cy="1059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869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C789A-FB38-70A1-0263-C1D8A95CF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55856-65CB-7A15-6737-3B8EA63BB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O" dirty="0"/>
              <a:t>Advice #1: </a:t>
            </a:r>
            <a:r>
              <a:rPr lang="en-GB" dirty="0"/>
              <a:t>Don't use AI*</a:t>
            </a:r>
            <a:endParaRPr lang="en-NO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7B9C3-82C2-F349-4E3C-DD5D80443574}"/>
              </a:ext>
            </a:extLst>
          </p:cNvPr>
          <p:cNvSpPr txBox="1"/>
          <p:nvPr/>
        </p:nvSpPr>
        <p:spPr>
          <a:xfrm>
            <a:off x="2238362" y="2960229"/>
            <a:ext cx="77152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“While these tools offer unprecedented opportunities for enhancing learning and information access, their potential impact on cognitive development, critical thinking, and intellectual independence demands a very careful consideration and continued research”</a:t>
            </a:r>
            <a:endParaRPr lang="en-NO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2CF7C7-77B9-2E54-BE3F-2FE20B000C6B}"/>
              </a:ext>
            </a:extLst>
          </p:cNvPr>
          <p:cNvSpPr txBox="1"/>
          <p:nvPr/>
        </p:nvSpPr>
        <p:spPr>
          <a:xfrm>
            <a:off x="9207796" y="105808"/>
            <a:ext cx="358128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Paper: Your Brain on ChatGPT: Accumulation</a:t>
            </a:r>
          </a:p>
          <a:p>
            <a:r>
              <a:rPr lang="en-GB" sz="1200" dirty="0"/>
              <a:t>of Cognitive Debt when Using an AI</a:t>
            </a:r>
          </a:p>
          <a:p>
            <a:r>
              <a:rPr lang="en-GB" sz="1200" dirty="0"/>
              <a:t>Assistant for Essay Writing Task</a:t>
            </a:r>
            <a:br>
              <a:rPr lang="en-GB" sz="1200" dirty="0"/>
            </a:br>
            <a:br>
              <a:rPr lang="en-GB" sz="1200" dirty="0"/>
            </a:br>
            <a:r>
              <a:rPr lang="en-GB" sz="1200" dirty="0"/>
              <a:t>MIT Media Lab</a:t>
            </a:r>
            <a:br>
              <a:rPr lang="en-GB" sz="1200" dirty="0"/>
            </a:br>
            <a:br>
              <a:rPr lang="en-GB" sz="1200" dirty="0"/>
            </a:br>
            <a:r>
              <a:rPr lang="en-GB" sz="1200" dirty="0"/>
              <a:t>https://</a:t>
            </a:r>
            <a:r>
              <a:rPr lang="en-GB" sz="1200" dirty="0" err="1"/>
              <a:t>arxiv.org</a:t>
            </a:r>
            <a:r>
              <a:rPr lang="en-GB" sz="1200" dirty="0"/>
              <a:t>/pdf/2506.08872v1</a:t>
            </a:r>
            <a:endParaRPr lang="en-NO" sz="1200" dirty="0"/>
          </a:p>
        </p:txBody>
      </p:sp>
    </p:spTree>
    <p:extLst>
      <p:ext uri="{BB962C8B-B14F-4D97-AF65-F5344CB8AC3E}">
        <p14:creationId xmlns:p14="http://schemas.microsoft.com/office/powerpoint/2010/main" val="24570887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87921-165B-4EBD-23A3-473AE71C6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96AC4-F622-A85B-CB2C-9DC2D6E66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O" dirty="0"/>
              <a:t>Advice #1: </a:t>
            </a:r>
            <a:r>
              <a:rPr lang="en-GB" dirty="0"/>
              <a:t>Don't use AI*</a:t>
            </a:r>
            <a:endParaRPr lang="en-NO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C5666B-9877-A9D6-83B7-A33FB2E05844}"/>
              </a:ext>
            </a:extLst>
          </p:cNvPr>
          <p:cNvSpPr txBox="1"/>
          <p:nvPr/>
        </p:nvSpPr>
        <p:spPr>
          <a:xfrm>
            <a:off x="131188" y="1903694"/>
            <a:ext cx="7715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”Duplicated code was getting bad in 2023. In 2024, it started getting ugly.”</a:t>
            </a:r>
            <a:endParaRPr lang="en-NO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7B8F67-595A-AE0F-D587-1628331776DD}"/>
              </a:ext>
            </a:extLst>
          </p:cNvPr>
          <p:cNvSpPr txBox="1"/>
          <p:nvPr/>
        </p:nvSpPr>
        <p:spPr>
          <a:xfrm>
            <a:off x="9207796" y="105808"/>
            <a:ext cx="29238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Paper: AI Copilot Code Quality</a:t>
            </a:r>
            <a:br>
              <a:rPr lang="en-GB" sz="1200" dirty="0"/>
            </a:br>
            <a:br>
              <a:rPr lang="en-GB" sz="1200" dirty="0"/>
            </a:br>
            <a:r>
              <a:rPr lang="en-GB" sz="1200" dirty="0" err="1"/>
              <a:t>GitClear</a:t>
            </a:r>
            <a:br>
              <a:rPr lang="en-GB" sz="1200" dirty="0"/>
            </a:br>
            <a:br>
              <a:rPr lang="en-GB" sz="1200" dirty="0"/>
            </a:br>
            <a:r>
              <a:rPr lang="en-GB" sz="1200" dirty="0"/>
              <a:t>https://</a:t>
            </a:r>
            <a:r>
              <a:rPr lang="en-GB" sz="1200" dirty="0" err="1"/>
              <a:t>www.gitclear.com</a:t>
            </a:r>
            <a:r>
              <a:rPr lang="en-GB" sz="1200" dirty="0"/>
              <a:t>/ai_assistant_code_quality_2025_research</a:t>
            </a:r>
            <a:endParaRPr lang="en-NO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09741E-EC92-8663-111F-19A24875F5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88" y="2486032"/>
            <a:ext cx="5706035" cy="38143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98370D-595A-6407-D04A-010CAC8A7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919" y="2785497"/>
            <a:ext cx="6193774" cy="210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3244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3C223-7276-7B89-2AE6-4DF38E703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D4C7C-6AF4-4EDF-E2F2-3FD21AB1B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O" dirty="0"/>
              <a:t>Advice #1: </a:t>
            </a:r>
            <a:r>
              <a:rPr lang="en-GB" dirty="0"/>
              <a:t>Don't use AI*</a:t>
            </a:r>
            <a:endParaRPr lang="en-NO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8CAC04-DEB6-D6C3-33D4-10F29626FC2C}"/>
              </a:ext>
            </a:extLst>
          </p:cNvPr>
          <p:cNvSpPr txBox="1"/>
          <p:nvPr/>
        </p:nvSpPr>
        <p:spPr>
          <a:xfrm>
            <a:off x="9207797" y="105808"/>
            <a:ext cx="27538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Paper: Measuring the Impact of Early-2025 AI on</a:t>
            </a:r>
          </a:p>
          <a:p>
            <a:r>
              <a:rPr lang="en-GB" sz="1200" dirty="0"/>
              <a:t>Experienced Open-Source Developer Productivity</a:t>
            </a:r>
            <a:br>
              <a:rPr lang="en-GB" sz="1200" dirty="0"/>
            </a:br>
            <a:br>
              <a:rPr lang="en-GB" sz="1200" dirty="0"/>
            </a:br>
            <a:r>
              <a:rPr lang="en-GB" sz="1200" dirty="0"/>
              <a:t>Model Evaluation &amp; Threat Research </a:t>
            </a:r>
            <a:br>
              <a:rPr lang="en-GB" sz="1200" dirty="0"/>
            </a:br>
            <a:br>
              <a:rPr lang="en-GB" sz="1200" dirty="0"/>
            </a:br>
            <a:r>
              <a:rPr lang="en-GB" sz="1200" dirty="0"/>
              <a:t>https://</a:t>
            </a:r>
            <a:r>
              <a:rPr lang="en-GB" sz="1200" dirty="0" err="1"/>
              <a:t>arxiv.org</a:t>
            </a:r>
            <a:r>
              <a:rPr lang="en-GB" sz="1200" dirty="0"/>
              <a:t>/abs/2507.09089</a:t>
            </a:r>
            <a:endParaRPr lang="en-NO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F9B4A5-91EF-CDD1-0300-1726F8B6C9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554" y="3229423"/>
            <a:ext cx="6012607" cy="32634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E4042F-DBB8-21DD-0831-785BB90DE536}"/>
              </a:ext>
            </a:extLst>
          </p:cNvPr>
          <p:cNvSpPr txBox="1"/>
          <p:nvPr/>
        </p:nvSpPr>
        <p:spPr>
          <a:xfrm>
            <a:off x="984554" y="1832714"/>
            <a:ext cx="663899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“We find that when developers use AI tools, they implement issues in 19% more time on average and nearly all quantiles of observed implementation time see AI-allowed issues taking longer. That is, developers are slower when using AI is allowed”</a:t>
            </a:r>
            <a:endParaRPr lang="en-NO" i="1" dirty="0"/>
          </a:p>
        </p:txBody>
      </p:sp>
    </p:spTree>
    <p:extLst>
      <p:ext uri="{BB962C8B-B14F-4D97-AF65-F5344CB8AC3E}">
        <p14:creationId xmlns:p14="http://schemas.microsoft.com/office/powerpoint/2010/main" val="37601658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B0F06-6931-2FA9-2227-BB132D868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45945-0BB1-1E30-49F4-79697FBE4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O" dirty="0"/>
              <a:t>Advice #1: </a:t>
            </a:r>
            <a:r>
              <a:rPr lang="en-GB" dirty="0"/>
              <a:t>Don't use AI*</a:t>
            </a:r>
            <a:endParaRPr lang="en-NO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093669-D6C1-3D23-DE3E-FC725792352B}"/>
              </a:ext>
            </a:extLst>
          </p:cNvPr>
          <p:cNvSpPr txBox="1"/>
          <p:nvPr/>
        </p:nvSpPr>
        <p:spPr>
          <a:xfrm>
            <a:off x="838200" y="2392326"/>
            <a:ext cx="1037914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O" sz="3200" dirty="0"/>
              <a:t>Unchecked AI use impacts critical thinking and learning in a negative way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O" sz="3200" dirty="0"/>
              <a:t>AI use has a negative impact on code quality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O" sz="3200" dirty="0"/>
              <a:t>AI has a negative impact on reliability [TODO]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O" sz="3200" dirty="0"/>
              <a:t>AI makes you slower</a:t>
            </a:r>
          </a:p>
        </p:txBody>
      </p:sp>
    </p:spTree>
    <p:extLst>
      <p:ext uri="{BB962C8B-B14F-4D97-AF65-F5344CB8AC3E}">
        <p14:creationId xmlns:p14="http://schemas.microsoft.com/office/powerpoint/2010/main" val="17849138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69481-9905-9874-9BEA-86C69BA50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F7546-04E6-F71D-BA04-2B5FE02FE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O" dirty="0"/>
              <a:t>Advice #1: </a:t>
            </a:r>
            <a:r>
              <a:rPr lang="en-GB" dirty="0"/>
              <a:t>Don't use AI*</a:t>
            </a:r>
            <a:endParaRPr lang="en-NO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1E3D08-CA41-459A-33D8-A171E9954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25" y="1666012"/>
            <a:ext cx="9088942" cy="4933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453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F9D34-8503-945F-C7F0-853A1A438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B34C0-957E-6C23-687E-8AFA7F819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O" dirty="0"/>
              <a:t>Advice #1: </a:t>
            </a:r>
            <a:r>
              <a:rPr lang="en-GB" dirty="0"/>
              <a:t>Don't use AI*</a:t>
            </a:r>
            <a:endParaRPr lang="en-NO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6A8F53-A62B-8CA3-3C58-D2DDB9AE64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25" y="1666012"/>
            <a:ext cx="9088942" cy="49331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7802315-3C16-B45F-072A-8791D4640288}"/>
              </a:ext>
            </a:extLst>
          </p:cNvPr>
          <p:cNvSpPr/>
          <p:nvPr/>
        </p:nvSpPr>
        <p:spPr>
          <a:xfrm>
            <a:off x="5323840" y="2445488"/>
            <a:ext cx="2927025" cy="429555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C2BBE0-9A21-C502-7231-15A8EFCA8356}"/>
              </a:ext>
            </a:extLst>
          </p:cNvPr>
          <p:cNvSpPr txBox="1"/>
          <p:nvPr/>
        </p:nvSpPr>
        <p:spPr>
          <a:xfrm>
            <a:off x="2614209" y="2576076"/>
            <a:ext cx="24894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2400" dirty="0">
                <a:solidFill>
                  <a:srgbClr val="FF0000"/>
                </a:solidFill>
                <a:latin typeface="Excalifont" pitchFamily="2" charset="0"/>
              </a:rPr>
              <a:t>This is where you learn!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A1C2FCF-627A-0283-C9E2-A0AE1F48512C}"/>
              </a:ext>
            </a:extLst>
          </p:cNvPr>
          <p:cNvCxnSpPr>
            <a:cxnSpLocks/>
          </p:cNvCxnSpPr>
          <p:nvPr/>
        </p:nvCxnSpPr>
        <p:spPr>
          <a:xfrm>
            <a:off x="4210493" y="3150127"/>
            <a:ext cx="981267" cy="5684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34805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9E1EB-DFED-7D83-AC98-C6C6E9AB6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EE84C-7905-556D-8E6F-E2B6EF868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O" dirty="0"/>
              <a:t>Advice #1: </a:t>
            </a:r>
            <a:r>
              <a:rPr lang="en-GB" dirty="0"/>
              <a:t>Don't use AI*</a:t>
            </a:r>
            <a:endParaRPr lang="en-NO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F7BC98-C408-B695-FF54-A1CC483D1D37}"/>
              </a:ext>
            </a:extLst>
          </p:cNvPr>
          <p:cNvSpPr txBox="1"/>
          <p:nvPr/>
        </p:nvSpPr>
        <p:spPr>
          <a:xfrm>
            <a:off x="838200" y="1291641"/>
            <a:ext cx="69678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0" dirty="0"/>
              <a:t>Learning matters, especially in graduates</a:t>
            </a:r>
          </a:p>
        </p:txBody>
      </p:sp>
    </p:spTree>
    <p:extLst>
      <p:ext uri="{BB962C8B-B14F-4D97-AF65-F5344CB8AC3E}">
        <p14:creationId xmlns:p14="http://schemas.microsoft.com/office/powerpoint/2010/main" val="3649549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9E30D-9DA3-6DAA-1C01-D05F68F6B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571ED-AA9F-BFA7-F337-AC605E112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O" dirty="0"/>
              <a:t>Advice #1: </a:t>
            </a:r>
            <a:r>
              <a:rPr lang="en-GB" dirty="0"/>
              <a:t>Don't use AI*</a:t>
            </a:r>
            <a:endParaRPr lang="en-NO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4E94B5-C09A-3404-7BA4-A452B17386C8}"/>
              </a:ext>
            </a:extLst>
          </p:cNvPr>
          <p:cNvSpPr txBox="1"/>
          <p:nvPr/>
        </p:nvSpPr>
        <p:spPr>
          <a:xfrm>
            <a:off x="838200" y="1291641"/>
            <a:ext cx="69678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0" dirty="0"/>
              <a:t>Learning matters, especially in graduates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6DCB07-405B-9CD2-CBA4-1AE366D8D259}"/>
              </a:ext>
            </a:extLst>
          </p:cNvPr>
          <p:cNvSpPr txBox="1"/>
          <p:nvPr/>
        </p:nvSpPr>
        <p:spPr>
          <a:xfrm>
            <a:off x="421343" y="2522122"/>
            <a:ext cx="409687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O" sz="3200" dirty="0"/>
              <a:t>Junors who knows how to learn, becomes productive faster.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11F187-3B35-44AC-D35A-7E1AEDA34FA4}"/>
              </a:ext>
            </a:extLst>
          </p:cNvPr>
          <p:cNvSpPr txBox="1"/>
          <p:nvPr/>
        </p:nvSpPr>
        <p:spPr>
          <a:xfrm>
            <a:off x="7028329" y="2124761"/>
            <a:ext cx="43254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O" sz="3200" dirty="0"/>
              <a:t>Juniors that rely heavily on AI seem more productive at first, </a:t>
            </a:r>
            <a:r>
              <a:rPr lang="en-GB" sz="3200" dirty="0"/>
              <a:t>but quickly stagnates.</a:t>
            </a:r>
            <a:endParaRPr lang="en-NO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3E1A1A-4CF2-79BE-4D06-5FD07721F21F}"/>
              </a:ext>
            </a:extLst>
          </p:cNvPr>
          <p:cNvSpPr txBox="1"/>
          <p:nvPr/>
        </p:nvSpPr>
        <p:spPr>
          <a:xfrm>
            <a:off x="421343" y="4923215"/>
            <a:ext cx="4325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Juniors who did not rely heavily on AI has deeper knowledge</a:t>
            </a:r>
            <a:endParaRPr lang="en-NO" sz="3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0C77E1-4127-33A9-8828-A53FA4D04E42}"/>
              </a:ext>
            </a:extLst>
          </p:cNvPr>
          <p:cNvSpPr txBox="1"/>
          <p:nvPr/>
        </p:nvSpPr>
        <p:spPr>
          <a:xfrm>
            <a:off x="7028329" y="4781529"/>
            <a:ext cx="43254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O" sz="3200" dirty="0"/>
              <a:t>TODO</a:t>
            </a:r>
          </a:p>
        </p:txBody>
      </p:sp>
    </p:spTree>
    <p:extLst>
      <p:ext uri="{BB962C8B-B14F-4D97-AF65-F5344CB8AC3E}">
        <p14:creationId xmlns:p14="http://schemas.microsoft.com/office/powerpoint/2010/main" val="662076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69C08-3ED3-5E76-0F79-4B4A38C59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4431E-8473-F5F5-18C6-B8FD6478C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O" dirty="0"/>
              <a:t>Advice #1: </a:t>
            </a:r>
            <a:r>
              <a:rPr lang="en-GB" dirty="0"/>
              <a:t>Don't use AI*</a:t>
            </a:r>
            <a:endParaRPr lang="en-NO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6CE746-C66D-ED29-A86F-67754CF25A72}"/>
              </a:ext>
            </a:extLst>
          </p:cNvPr>
          <p:cNvSpPr txBox="1"/>
          <p:nvPr/>
        </p:nvSpPr>
        <p:spPr>
          <a:xfrm>
            <a:off x="838200" y="1291641"/>
            <a:ext cx="28159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0" dirty="0"/>
              <a:t>*How to use AI: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9E17EB-0408-1111-E8C9-2F7891F66292}"/>
              </a:ext>
            </a:extLst>
          </p:cNvPr>
          <p:cNvSpPr txBox="1"/>
          <p:nvPr/>
        </p:nvSpPr>
        <p:spPr>
          <a:xfrm>
            <a:off x="838201" y="2802932"/>
            <a:ext cx="1107589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NO" sz="2800" dirty="0"/>
              <a:t>Disable all AI completion in your editor, if you have to use AI, only use it in the browser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O" sz="2800" dirty="0"/>
              <a:t>Never allow it to generate relevant code. </a:t>
            </a:r>
            <a:r>
              <a:rPr lang="en-GB" sz="2800" dirty="0"/>
              <a:t>L</a:t>
            </a:r>
            <a:r>
              <a:rPr lang="en-NO" sz="2800" dirty="0"/>
              <a:t>et it explain concepts, or generate example code, but never something that you can copy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O" sz="2800" dirty="0"/>
              <a:t>Double check </a:t>
            </a:r>
            <a:r>
              <a:rPr lang="en-NO" sz="2800" u="sng" dirty="0"/>
              <a:t>everything</a:t>
            </a:r>
            <a:r>
              <a:rPr lang="en-NO" sz="2800" dirty="0"/>
              <a:t> with non-AI sources</a:t>
            </a:r>
            <a:endParaRPr lang="en-NO" sz="2800" u="sng" dirty="0"/>
          </a:p>
        </p:txBody>
      </p:sp>
    </p:spTree>
    <p:extLst>
      <p:ext uri="{BB962C8B-B14F-4D97-AF65-F5344CB8AC3E}">
        <p14:creationId xmlns:p14="http://schemas.microsoft.com/office/powerpoint/2010/main" val="11076327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B630F-34FB-6CF0-3F0B-364EB7BD1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24862-34EC-62D7-CAFA-08CCF6764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Advice #2: "Working" is the bare minimum</a:t>
            </a:r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35235718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67F5E-13EB-E82B-8D5C-235270AF8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702AC-64D1-0B9E-2061-92ED3C751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Advice #2: "Working" is the bare minimum</a:t>
            </a:r>
            <a:endParaRPr lang="en-NO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8DB024-D4FB-BDFC-1B59-E764BD4943D6}"/>
              </a:ext>
            </a:extLst>
          </p:cNvPr>
          <p:cNvSpPr txBox="1"/>
          <p:nvPr/>
        </p:nvSpPr>
        <p:spPr>
          <a:xfrm>
            <a:off x="1568020" y="3094074"/>
            <a:ext cx="90559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/>
              <a:t>A software developer maintains and evolves a technical solution to remain competitive</a:t>
            </a:r>
          </a:p>
          <a:p>
            <a:pPr algn="ctr"/>
            <a:endParaRPr lang="en-NO" sz="3200" dirty="0"/>
          </a:p>
        </p:txBody>
      </p:sp>
    </p:spTree>
    <p:extLst>
      <p:ext uri="{BB962C8B-B14F-4D97-AF65-F5344CB8AC3E}">
        <p14:creationId xmlns:p14="http://schemas.microsoft.com/office/powerpoint/2010/main" val="24296240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8DF45-0B01-E1C6-0261-9B77C1207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E92F1-84B7-4CA2-C960-957D53099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Advice #2: "Working" is the bare minimum</a:t>
            </a:r>
            <a:endParaRPr lang="en-NO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E6132E-FAC9-926A-4540-78F529F5A460}"/>
              </a:ext>
            </a:extLst>
          </p:cNvPr>
          <p:cNvSpPr txBox="1"/>
          <p:nvPr/>
        </p:nvSpPr>
        <p:spPr>
          <a:xfrm>
            <a:off x="1568020" y="3094074"/>
            <a:ext cx="90559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/>
              <a:t>A software developer </a:t>
            </a:r>
            <a:r>
              <a:rPr lang="en-GB" sz="3200" dirty="0">
                <a:solidFill>
                  <a:srgbClr val="FF0000"/>
                </a:solidFill>
              </a:rPr>
              <a:t>maintains and evolves</a:t>
            </a:r>
            <a:r>
              <a:rPr lang="en-GB" sz="3200" dirty="0"/>
              <a:t> a technical solution to remain competitive</a:t>
            </a:r>
          </a:p>
          <a:p>
            <a:pPr algn="ctr"/>
            <a:endParaRPr lang="en-NO"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1D201-32A0-AEED-5073-163DDE18363A}"/>
              </a:ext>
            </a:extLst>
          </p:cNvPr>
          <p:cNvSpPr txBox="1"/>
          <p:nvPr/>
        </p:nvSpPr>
        <p:spPr>
          <a:xfrm>
            <a:off x="2339164" y="2023049"/>
            <a:ext cx="6363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dirty="0">
                <a:solidFill>
                  <a:srgbClr val="FF0000"/>
                </a:solidFill>
              </a:rPr>
              <a:t>Fixing bugs, improving performance, adding new functionality, etc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9D73F23-2B9C-2CF5-968B-CBB1A1616A9F}"/>
              </a:ext>
            </a:extLst>
          </p:cNvPr>
          <p:cNvCxnSpPr>
            <a:cxnSpLocks/>
          </p:cNvCxnSpPr>
          <p:nvPr/>
        </p:nvCxnSpPr>
        <p:spPr>
          <a:xfrm>
            <a:off x="5326912" y="2520023"/>
            <a:ext cx="893134" cy="57405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75994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C5510-B7A3-B68C-41F4-B199D4399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4607B-004A-9A45-AA17-7B17D6A1A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Advice #2: "Working" is the bare minimum</a:t>
            </a:r>
            <a:endParaRPr lang="en-NO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1B68C3-93B4-F893-3210-73872DD9983E}"/>
              </a:ext>
            </a:extLst>
          </p:cNvPr>
          <p:cNvSpPr txBox="1"/>
          <p:nvPr/>
        </p:nvSpPr>
        <p:spPr>
          <a:xfrm>
            <a:off x="1568020" y="3094074"/>
            <a:ext cx="90559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/>
              <a:t>A software developer </a:t>
            </a:r>
            <a:r>
              <a:rPr lang="en-GB" sz="3200" dirty="0">
                <a:solidFill>
                  <a:srgbClr val="FF0000"/>
                </a:solidFill>
              </a:rPr>
              <a:t>maintains and evolves</a:t>
            </a:r>
            <a:r>
              <a:rPr lang="en-GB" sz="3200" dirty="0"/>
              <a:t> a technical solution to </a:t>
            </a:r>
            <a:r>
              <a:rPr lang="en-GB" sz="3200" dirty="0">
                <a:solidFill>
                  <a:srgbClr val="FF0000"/>
                </a:solidFill>
              </a:rPr>
              <a:t>remain</a:t>
            </a:r>
            <a:r>
              <a:rPr lang="en-GB" sz="3200" dirty="0"/>
              <a:t> </a:t>
            </a:r>
            <a:r>
              <a:rPr lang="en-GB" sz="3200" dirty="0">
                <a:solidFill>
                  <a:srgbClr val="FF0000"/>
                </a:solidFill>
              </a:rPr>
              <a:t>competitive</a:t>
            </a:r>
          </a:p>
          <a:p>
            <a:pPr algn="ctr"/>
            <a:endParaRPr lang="en-NO"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92697F-F0CE-BB51-C63B-403423B31ED2}"/>
              </a:ext>
            </a:extLst>
          </p:cNvPr>
          <p:cNvSpPr txBox="1"/>
          <p:nvPr/>
        </p:nvSpPr>
        <p:spPr>
          <a:xfrm>
            <a:off x="2339164" y="2023049"/>
            <a:ext cx="7798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dirty="0">
                <a:solidFill>
                  <a:srgbClr val="FF0000"/>
                </a:solidFill>
              </a:rPr>
              <a:t>Fixing bugs, improving performance, security fixes, adding new functionality, etc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74059C9-D49A-C64F-B615-D0044E14FC76}"/>
              </a:ext>
            </a:extLst>
          </p:cNvPr>
          <p:cNvCxnSpPr>
            <a:cxnSpLocks/>
          </p:cNvCxnSpPr>
          <p:nvPr/>
        </p:nvCxnSpPr>
        <p:spPr>
          <a:xfrm>
            <a:off x="5326912" y="2520023"/>
            <a:ext cx="893134" cy="57405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B89A6BB-733F-CF7C-4F0E-12BF207FA401}"/>
              </a:ext>
            </a:extLst>
          </p:cNvPr>
          <p:cNvSpPr txBox="1"/>
          <p:nvPr/>
        </p:nvSpPr>
        <p:spPr>
          <a:xfrm>
            <a:off x="2806926" y="4868453"/>
            <a:ext cx="74747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dirty="0">
                <a:solidFill>
                  <a:srgbClr val="FF0000"/>
                </a:solidFill>
              </a:rPr>
              <a:t>The ability to continue to maintain and evolve at an acceptable pace with the performance and quality that matches or outpaces its competitors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961F38A-7F56-97A1-2687-BF9C220E990D}"/>
              </a:ext>
            </a:extLst>
          </p:cNvPr>
          <p:cNvCxnSpPr>
            <a:cxnSpLocks/>
          </p:cNvCxnSpPr>
          <p:nvPr/>
        </p:nvCxnSpPr>
        <p:spPr>
          <a:xfrm flipV="1">
            <a:off x="5773479" y="4178595"/>
            <a:ext cx="871870" cy="623466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0374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4B20A-75D1-66D7-5FBC-36D6D4B1F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5C9CE-016D-C485-8634-94069FCF3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Advice #2: "Working" is the bare minimum</a:t>
            </a:r>
            <a:endParaRPr lang="en-NO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8D7E46-32FD-FD6F-4DF4-70BC46F2F850}"/>
              </a:ext>
            </a:extLst>
          </p:cNvPr>
          <p:cNvSpPr txBox="1"/>
          <p:nvPr/>
        </p:nvSpPr>
        <p:spPr>
          <a:xfrm>
            <a:off x="838200" y="1690688"/>
            <a:ext cx="22769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800" dirty="0"/>
              <a:t>Technical debt</a:t>
            </a:r>
          </a:p>
        </p:txBody>
      </p:sp>
    </p:spTree>
    <p:extLst>
      <p:ext uri="{BB962C8B-B14F-4D97-AF65-F5344CB8AC3E}">
        <p14:creationId xmlns:p14="http://schemas.microsoft.com/office/powerpoint/2010/main" val="31408240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33895-6EAA-D7C8-36B3-99B14AAE3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ED115-A18E-715D-5225-7B7A1A8F7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Advice #2: "Working" is the bare minimum</a:t>
            </a:r>
            <a:endParaRPr lang="en-NO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2C93B8-E4CC-CF48-A08B-20B5B9D749C5}"/>
              </a:ext>
            </a:extLst>
          </p:cNvPr>
          <p:cNvSpPr txBox="1"/>
          <p:nvPr/>
        </p:nvSpPr>
        <p:spPr>
          <a:xfrm>
            <a:off x="838200" y="1690688"/>
            <a:ext cx="22769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800" dirty="0"/>
              <a:t>Technical debt</a:t>
            </a:r>
          </a:p>
        </p:txBody>
      </p:sp>
      <p:pic>
        <p:nvPicPr>
          <p:cNvPr id="4098" name="Picture 2" descr="Nokia Logo History">
            <a:extLst>
              <a:ext uri="{FF2B5EF4-FFF2-40B4-BE49-F238E27FC236}">
                <a16:creationId xmlns:a16="http://schemas.microsoft.com/office/drawing/2014/main" id="{99276D19-B84F-0B05-313E-D96EA95E63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475" b="25266"/>
          <a:stretch>
            <a:fillRect/>
          </a:stretch>
        </p:blipFill>
        <p:spPr bwMode="auto">
          <a:xfrm>
            <a:off x="551331" y="3164916"/>
            <a:ext cx="5338482" cy="1479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The Story of Friendster. Created in 2002, Friendster burst ...">
            <a:extLst>
              <a:ext uri="{FF2B5EF4-FFF2-40B4-BE49-F238E27FC236}">
                <a16:creationId xmlns:a16="http://schemas.microsoft.com/office/drawing/2014/main" id="{67ABE805-0806-39E6-8030-4695B595FF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9058" y="1475060"/>
            <a:ext cx="3823447" cy="2628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Knight Capital Group - Wikipedia">
            <a:extLst>
              <a:ext uri="{FF2B5EF4-FFF2-40B4-BE49-F238E27FC236}">
                <a16:creationId xmlns:a16="http://schemas.microsoft.com/office/drawing/2014/main" id="{6CA338FF-EC03-B000-5DD6-C02C13AB02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2189" y="4644093"/>
            <a:ext cx="5145741" cy="1951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202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7093F-CE21-6799-431C-496E03930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15A8D3D-B0A5-5B11-093F-649E26E4EA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95" y="2267014"/>
            <a:ext cx="10679805" cy="437583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2C1AF6-AA31-E11C-6896-741D94744389}"/>
              </a:ext>
            </a:extLst>
          </p:cNvPr>
          <p:cNvSpPr txBox="1"/>
          <p:nvPr/>
        </p:nvSpPr>
        <p:spPr>
          <a:xfrm>
            <a:off x="673995" y="1690688"/>
            <a:ext cx="2655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dirty="0"/>
              <a:t>The tech-debt death spiral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6C91926-61E9-7041-DA09-F22445402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Advice #2: "Working" is the bare minimum</a:t>
            </a:r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7427422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2BE0C-73DD-B60B-2EFD-9C9EFF36C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46CF4BD-97C7-8A28-941A-06487B6ABD76}"/>
              </a:ext>
            </a:extLst>
          </p:cNvPr>
          <p:cNvSpPr txBox="1"/>
          <p:nvPr/>
        </p:nvSpPr>
        <p:spPr>
          <a:xfrm>
            <a:off x="838200" y="2305615"/>
            <a:ext cx="9485674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800" dirty="0"/>
              <a:t>Reading recommendations:</a:t>
            </a:r>
          </a:p>
          <a:p>
            <a:endParaRPr lang="en-NO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/>
              <a:t>Clean Coder: A code of Conduct for Professional Programmers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/>
              <a:t>The Pragmatic Programmer: From Journeyman to Master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/>
              <a:t>The Software Craftsman: Professionalism, Pragmatism, Pride</a:t>
            </a:r>
            <a:endParaRPr lang="en-NO" sz="280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CF02E13-154B-D589-9EBB-8FDB2BFB3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Advice #2: "Working" is the bare minimum</a:t>
            </a:r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5138019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F1AF7-F249-3C3B-8105-1D0584E0C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20840-9C27-0B3B-CBC0-96B0B8EC1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Advice #3: Don't </a:t>
            </a:r>
            <a:r>
              <a:rPr lang="en-GB" i="1" dirty="0"/>
              <a:t>just</a:t>
            </a:r>
            <a:r>
              <a:rPr lang="en-GB" dirty="0"/>
              <a:t> learn the theory</a:t>
            </a:r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22944506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9E972-9DCA-F0DD-F56D-AAF643C79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7B6D4-D70B-BF02-0B78-8718F74A2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Advice #4: Good design trumps perfect code with optimal performance</a:t>
            </a:r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836410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B8287-1542-0F71-9F34-3EE03C233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058B3-10C0-6C57-C322-22CA18F89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Advice #4: Good design trumps perfect code with optimal performance</a:t>
            </a:r>
            <a:endParaRPr lang="en-NO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1661CB-2EC8-16FB-A173-68D2C4D00EBA}"/>
              </a:ext>
            </a:extLst>
          </p:cNvPr>
          <p:cNvSpPr txBox="1"/>
          <p:nvPr/>
        </p:nvSpPr>
        <p:spPr>
          <a:xfrm>
            <a:off x="838200" y="1690688"/>
            <a:ext cx="6650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dirty="0"/>
              <a:t>but be aware of your imperfect code and performance bottlenecks…</a:t>
            </a:r>
          </a:p>
        </p:txBody>
      </p:sp>
    </p:spTree>
    <p:extLst>
      <p:ext uri="{BB962C8B-B14F-4D97-AF65-F5344CB8AC3E}">
        <p14:creationId xmlns:p14="http://schemas.microsoft.com/office/powerpoint/2010/main" val="40822335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3C6A4-9601-5D56-6FE4-97DED78E6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21FC0-42A7-DFE5-1F8D-1D8384899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Advice #5: Write tests(!!!)</a:t>
            </a:r>
            <a:endParaRPr lang="en-NO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5ADAF8-C4F3-3BED-B655-B64D449C03AF}"/>
              </a:ext>
            </a:extLst>
          </p:cNvPr>
          <p:cNvSpPr txBox="1"/>
          <p:nvPr/>
        </p:nvSpPr>
        <p:spPr>
          <a:xfrm>
            <a:off x="5110230" y="2036362"/>
            <a:ext cx="39309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3600" dirty="0">
                <a:latin typeface="Excalifont" pitchFamily="2" charset="0"/>
              </a:rPr>
              <a:t>Write some 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B386F5-377E-0ECC-CE66-F318F63A7B36}"/>
              </a:ext>
            </a:extLst>
          </p:cNvPr>
          <p:cNvSpPr txBox="1"/>
          <p:nvPr/>
        </p:nvSpPr>
        <p:spPr>
          <a:xfrm>
            <a:off x="6861057" y="3187084"/>
            <a:ext cx="17811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3600" dirty="0">
                <a:latin typeface="Excalifont" pitchFamily="2" charset="0"/>
              </a:rPr>
              <a:t>Done?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1C95F7-A71C-8642-BBAB-91025744929A}"/>
              </a:ext>
            </a:extLst>
          </p:cNvPr>
          <p:cNvSpPr txBox="1"/>
          <p:nvPr/>
        </p:nvSpPr>
        <p:spPr>
          <a:xfrm>
            <a:off x="3698115" y="5329811"/>
            <a:ext cx="53431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3600" dirty="0">
                <a:latin typeface="Excalifont" pitchFamily="2" charset="0"/>
              </a:rPr>
              <a:t>Hook it up to I/O so that it can be tested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3DBCA-AF53-F72E-2A27-D7C10847586B}"/>
              </a:ext>
            </a:extLst>
          </p:cNvPr>
          <p:cNvSpPr txBox="1"/>
          <p:nvPr/>
        </p:nvSpPr>
        <p:spPr>
          <a:xfrm>
            <a:off x="3552969" y="3773672"/>
            <a:ext cx="37098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3600" dirty="0">
                <a:latin typeface="Excalifont" pitchFamily="2" charset="0"/>
              </a:rPr>
              <a:t>Manually check that it works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AAA6CD-4AB6-16F2-0530-9EE1ACE6AE26}"/>
              </a:ext>
            </a:extLst>
          </p:cNvPr>
          <p:cNvSpPr txBox="1"/>
          <p:nvPr/>
        </p:nvSpPr>
        <p:spPr>
          <a:xfrm>
            <a:off x="7664579" y="4185401"/>
            <a:ext cx="977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3600" dirty="0">
                <a:latin typeface="Excalifont" pitchFamily="2" charset="0"/>
              </a:rPr>
              <a:t>Yes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B0B229-EEA3-7761-0858-6ADB6F750F70}"/>
              </a:ext>
            </a:extLst>
          </p:cNvPr>
          <p:cNvSpPr txBox="1"/>
          <p:nvPr/>
        </p:nvSpPr>
        <p:spPr>
          <a:xfrm>
            <a:off x="9238162" y="3105834"/>
            <a:ext cx="17811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3600" dirty="0">
                <a:latin typeface="Excalifont" pitchFamily="2" charset="0"/>
              </a:rPr>
              <a:t>No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6280415-FAE7-21C1-EB57-3EABFC2F9C08}"/>
              </a:ext>
            </a:extLst>
          </p:cNvPr>
          <p:cNvCxnSpPr>
            <a:cxnSpLocks/>
          </p:cNvCxnSpPr>
          <p:nvPr/>
        </p:nvCxnSpPr>
        <p:spPr>
          <a:xfrm>
            <a:off x="6804837" y="2682693"/>
            <a:ext cx="467833" cy="589876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EDA7D61-D08D-D70D-8B11-79C5CF5EA003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8410353" y="3429000"/>
            <a:ext cx="827809" cy="74937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8A5BA75-182B-2E1A-7C1E-A3C95991D516}"/>
              </a:ext>
            </a:extLst>
          </p:cNvPr>
          <p:cNvCxnSpPr>
            <a:cxnSpLocks/>
          </p:cNvCxnSpPr>
          <p:nvPr/>
        </p:nvCxnSpPr>
        <p:spPr>
          <a:xfrm flipH="1" flipV="1">
            <a:off x="8824257" y="2615106"/>
            <a:ext cx="577843" cy="490728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F3C199F-5B5A-3EDB-4A5F-9A042F3A30D8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7665831" y="3745853"/>
            <a:ext cx="487586" cy="439548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B61BFE3-464C-2005-5B34-D61F5C3DD96C}"/>
              </a:ext>
            </a:extLst>
          </p:cNvPr>
          <p:cNvCxnSpPr>
            <a:cxnSpLocks/>
          </p:cNvCxnSpPr>
          <p:nvPr/>
        </p:nvCxnSpPr>
        <p:spPr>
          <a:xfrm flipH="1">
            <a:off x="7751655" y="4780559"/>
            <a:ext cx="401761" cy="549252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7E7F535-B21C-4886-0165-2764316E2411}"/>
              </a:ext>
            </a:extLst>
          </p:cNvPr>
          <p:cNvSpPr txBox="1"/>
          <p:nvPr/>
        </p:nvSpPr>
        <p:spPr>
          <a:xfrm>
            <a:off x="569992" y="2537304"/>
            <a:ext cx="3300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3600" dirty="0">
                <a:latin typeface="Excalifont" pitchFamily="2" charset="0"/>
              </a:rPr>
              <a:t>Does it work?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00C204B-BDB7-AD22-184E-36C3865A052D}"/>
              </a:ext>
            </a:extLst>
          </p:cNvPr>
          <p:cNvCxnSpPr>
            <a:cxnSpLocks/>
          </p:cNvCxnSpPr>
          <p:nvPr/>
        </p:nvCxnSpPr>
        <p:spPr>
          <a:xfrm flipH="1" flipV="1">
            <a:off x="5847907" y="4831732"/>
            <a:ext cx="248093" cy="437642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D173A4F-B551-0A0A-5061-C6A3328128D6}"/>
              </a:ext>
            </a:extLst>
          </p:cNvPr>
          <p:cNvSpPr txBox="1"/>
          <p:nvPr/>
        </p:nvSpPr>
        <p:spPr>
          <a:xfrm>
            <a:off x="3456346" y="1665102"/>
            <a:ext cx="827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3600" dirty="0">
                <a:latin typeface="Excalifont" pitchFamily="2" charset="0"/>
              </a:rPr>
              <a:t>No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41E213D-F8B7-A794-1910-60D44CCA2048}"/>
              </a:ext>
            </a:extLst>
          </p:cNvPr>
          <p:cNvCxnSpPr>
            <a:cxnSpLocks/>
          </p:cNvCxnSpPr>
          <p:nvPr/>
        </p:nvCxnSpPr>
        <p:spPr>
          <a:xfrm flipV="1">
            <a:off x="2629404" y="2016030"/>
            <a:ext cx="773880" cy="465852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FE027D2-F7B9-FD51-A944-A4188D9DA63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4284155" y="1988268"/>
            <a:ext cx="748829" cy="358445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AC001B5-4CC7-3CEA-C362-7C6429D4A798}"/>
              </a:ext>
            </a:extLst>
          </p:cNvPr>
          <p:cNvSpPr txBox="1"/>
          <p:nvPr/>
        </p:nvSpPr>
        <p:spPr>
          <a:xfrm>
            <a:off x="704081" y="4067914"/>
            <a:ext cx="9806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3600" dirty="0">
                <a:latin typeface="Excalifont" pitchFamily="2" charset="0"/>
              </a:rPr>
              <a:t>Yes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9B21AF-EB8C-E3EA-A9AE-5F8DA99AD78D}"/>
              </a:ext>
            </a:extLst>
          </p:cNvPr>
          <p:cNvSpPr txBox="1"/>
          <p:nvPr/>
        </p:nvSpPr>
        <p:spPr>
          <a:xfrm>
            <a:off x="388266" y="5598524"/>
            <a:ext cx="2241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3600" dirty="0">
                <a:latin typeface="Excalifont" pitchFamily="2" charset="0"/>
              </a:rPr>
              <a:t>Success!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E7761E0-2F84-1D2F-DE43-B0D7F991F08C}"/>
              </a:ext>
            </a:extLst>
          </p:cNvPr>
          <p:cNvCxnSpPr>
            <a:cxnSpLocks/>
          </p:cNvCxnSpPr>
          <p:nvPr/>
        </p:nvCxnSpPr>
        <p:spPr>
          <a:xfrm flipH="1">
            <a:off x="1287864" y="3105834"/>
            <a:ext cx="349494" cy="999743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14755FD-70D4-A272-98A7-8AF960C87B44}"/>
              </a:ext>
            </a:extLst>
          </p:cNvPr>
          <p:cNvCxnSpPr>
            <a:cxnSpLocks/>
          </p:cNvCxnSpPr>
          <p:nvPr/>
        </p:nvCxnSpPr>
        <p:spPr>
          <a:xfrm>
            <a:off x="1369176" y="4653233"/>
            <a:ext cx="0" cy="999743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6E7C8FB-D925-4292-6E02-5FBEE63E7868}"/>
              </a:ext>
            </a:extLst>
          </p:cNvPr>
          <p:cNvCxnSpPr>
            <a:cxnSpLocks/>
          </p:cNvCxnSpPr>
          <p:nvPr/>
        </p:nvCxnSpPr>
        <p:spPr>
          <a:xfrm flipH="1" flipV="1">
            <a:off x="3602850" y="3102627"/>
            <a:ext cx="267400" cy="635765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18288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8DABC-8D5D-7DA3-3E09-9E0FD989C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C595C-C3DB-D5BF-5D8A-094964F74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Advice #5: Write tests(!!!)</a:t>
            </a:r>
            <a:endParaRPr lang="en-NO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A68AF2-085F-5F81-C523-8A8132091DDE}"/>
              </a:ext>
            </a:extLst>
          </p:cNvPr>
          <p:cNvSpPr txBox="1"/>
          <p:nvPr/>
        </p:nvSpPr>
        <p:spPr>
          <a:xfrm>
            <a:off x="2165012" y="1690688"/>
            <a:ext cx="39309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3600" dirty="0">
                <a:latin typeface="Excalifont" pitchFamily="2" charset="0"/>
              </a:rPr>
              <a:t>Write some code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93901B8-6F02-08FE-A762-E914C1C9E1C9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4130506" y="2337019"/>
            <a:ext cx="0" cy="624033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C84019C-B7A4-6189-4940-A59E10019C1F}"/>
              </a:ext>
            </a:extLst>
          </p:cNvPr>
          <p:cNvSpPr txBox="1"/>
          <p:nvPr/>
        </p:nvSpPr>
        <p:spPr>
          <a:xfrm>
            <a:off x="3024014" y="5524078"/>
            <a:ext cx="2241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3600" dirty="0">
                <a:latin typeface="Excalifont" pitchFamily="2" charset="0"/>
              </a:rPr>
              <a:t>Success!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097FFE-D56E-52AA-2064-383A36937271}"/>
              </a:ext>
            </a:extLst>
          </p:cNvPr>
          <p:cNvSpPr txBox="1"/>
          <p:nvPr/>
        </p:nvSpPr>
        <p:spPr>
          <a:xfrm>
            <a:off x="2305493" y="2961052"/>
            <a:ext cx="39309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3600" dirty="0">
                <a:latin typeface="Excalifont" pitchFamily="2" charset="0"/>
              </a:rPr>
              <a:t>Does test pass?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3D2C1DD-FBA6-0FE7-2E35-5E68C351FFF5}"/>
              </a:ext>
            </a:extLst>
          </p:cNvPr>
          <p:cNvCxnSpPr>
            <a:cxnSpLocks/>
          </p:cNvCxnSpPr>
          <p:nvPr/>
        </p:nvCxnSpPr>
        <p:spPr>
          <a:xfrm flipV="1">
            <a:off x="6236481" y="2760678"/>
            <a:ext cx="759742" cy="534688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B796024-0DD3-D838-7CBD-B9DE2AB65F80}"/>
              </a:ext>
            </a:extLst>
          </p:cNvPr>
          <p:cNvSpPr txBox="1"/>
          <p:nvPr/>
        </p:nvSpPr>
        <p:spPr>
          <a:xfrm>
            <a:off x="6769116" y="2114347"/>
            <a:ext cx="7597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3600" dirty="0">
                <a:latin typeface="Excalifont" pitchFamily="2" charset="0"/>
              </a:rPr>
              <a:t>No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BE04705-010F-F787-7650-31FB4652C46C}"/>
              </a:ext>
            </a:extLst>
          </p:cNvPr>
          <p:cNvCxnSpPr>
            <a:cxnSpLocks/>
          </p:cNvCxnSpPr>
          <p:nvPr/>
        </p:nvCxnSpPr>
        <p:spPr>
          <a:xfrm flipH="1" flipV="1">
            <a:off x="6010817" y="1936042"/>
            <a:ext cx="758299" cy="267344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32C8311-0566-C7D0-C9D6-FD9572778895}"/>
              </a:ext>
            </a:extLst>
          </p:cNvPr>
          <p:cNvCxnSpPr>
            <a:cxnSpLocks/>
          </p:cNvCxnSpPr>
          <p:nvPr/>
        </p:nvCxnSpPr>
        <p:spPr>
          <a:xfrm>
            <a:off x="4043881" y="3607383"/>
            <a:ext cx="0" cy="624033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B50A63A-8C98-D2FB-AC23-01FEEA85991B}"/>
              </a:ext>
            </a:extLst>
          </p:cNvPr>
          <p:cNvSpPr txBox="1"/>
          <p:nvPr/>
        </p:nvSpPr>
        <p:spPr>
          <a:xfrm>
            <a:off x="3664009" y="4278094"/>
            <a:ext cx="9611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3600" dirty="0">
                <a:latin typeface="Excalifont" pitchFamily="2" charset="0"/>
              </a:rPr>
              <a:t>Yes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349623F-D90B-8583-4615-7069EFDC409C}"/>
              </a:ext>
            </a:extLst>
          </p:cNvPr>
          <p:cNvCxnSpPr>
            <a:cxnSpLocks/>
          </p:cNvCxnSpPr>
          <p:nvPr/>
        </p:nvCxnSpPr>
        <p:spPr>
          <a:xfrm>
            <a:off x="4043881" y="4877747"/>
            <a:ext cx="0" cy="519805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0396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Gre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522</TotalTime>
  <Words>768</Words>
  <Application>Microsoft Macintosh PowerPoint</Application>
  <PresentationFormat>Widescreen</PresentationFormat>
  <Paragraphs>84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Aptos</vt:lpstr>
      <vt:lpstr>Arial</vt:lpstr>
      <vt:lpstr>Calibri</vt:lpstr>
      <vt:lpstr>Calibri Light</vt:lpstr>
      <vt:lpstr>Excalifont</vt:lpstr>
      <vt:lpstr>Office 2013 - 2022 Theme</vt:lpstr>
      <vt:lpstr>PowerPoint Presentation</vt:lpstr>
      <vt:lpstr>PowerPoint Presentation</vt:lpstr>
      <vt:lpstr>PowerPoint Presentation</vt:lpstr>
      <vt:lpstr>Advice #1: Don't use AI*</vt:lpstr>
      <vt:lpstr>Advice #1: Don't use AI*</vt:lpstr>
      <vt:lpstr>Advice #1: Don't use AI*</vt:lpstr>
      <vt:lpstr>Advice #1: Don't use AI*</vt:lpstr>
      <vt:lpstr>Advice #1: Don't use AI*</vt:lpstr>
      <vt:lpstr>Advice #1: Don't use AI*</vt:lpstr>
      <vt:lpstr>Advice #1: Don't use AI*</vt:lpstr>
      <vt:lpstr>Advice #1: Don't use AI*</vt:lpstr>
      <vt:lpstr>Advice #1: Don't use AI*</vt:lpstr>
      <vt:lpstr>Advice #1: Don't use AI*</vt:lpstr>
      <vt:lpstr>Advice #1: Don't use AI*</vt:lpstr>
      <vt:lpstr>Advice #2: "Working" is the bare minimum</vt:lpstr>
      <vt:lpstr>Advice #2: "Working" is the bare minimum</vt:lpstr>
      <vt:lpstr>Advice #2: "Working" is the bare minimum</vt:lpstr>
      <vt:lpstr>Advice #2: "Working" is the bare minimum</vt:lpstr>
      <vt:lpstr>Advice #2: "Working" is the bare minimum</vt:lpstr>
      <vt:lpstr>Advice #2: "Working" is the bare minimum</vt:lpstr>
      <vt:lpstr>Advice #2: "Working" is the bare minimum</vt:lpstr>
      <vt:lpstr>Advice #2: "Working" is the bare minimum</vt:lpstr>
      <vt:lpstr>Advice #3: Don't just learn the theory</vt:lpstr>
      <vt:lpstr>Advice #4: Good design trumps perfect code with optimal performance</vt:lpstr>
      <vt:lpstr>Advice #4: Good design trumps perfect code with optimal performance</vt:lpstr>
      <vt:lpstr>Advice #5: Write tests(!!!)</vt:lpstr>
      <vt:lpstr>Advice #5: Write tests(!!!)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Mikael Lindbakk</dc:creator>
  <cp:lastModifiedBy>John Mikael Lindbakk</cp:lastModifiedBy>
  <cp:revision>45</cp:revision>
  <dcterms:created xsi:type="dcterms:W3CDTF">2026-01-10T10:41:25Z</dcterms:created>
  <dcterms:modified xsi:type="dcterms:W3CDTF">2026-01-10T21:22:13Z</dcterms:modified>
</cp:coreProperties>
</file>